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9" r:id="rId23"/>
    <p:sldId id="280" r:id="rId24"/>
    <p:sldId id="281" r:id="rId25"/>
    <p:sldId id="282" r:id="rId26"/>
    <p:sldId id="283" r:id="rId27"/>
    <p:sldId id="284" r:id="rId28"/>
    <p:sldId id="285" r:id="rId29"/>
    <p:sldId id="286" r:id="rId30"/>
    <p:sldId id="28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4660"/>
  </p:normalViewPr>
  <p:slideViewPr>
    <p:cSldViewPr snapToGrid="0">
      <p:cViewPr varScale="1">
        <p:scale>
          <a:sx n="68" d="100"/>
          <a:sy n="68" d="100"/>
        </p:scale>
        <p:origin x="8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C7CC6-7E0D-2860-4DE0-7119D920A8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D799B2-41E2-4B8F-E5CC-6B08AB293D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6FBE05-EAD5-BD0A-F920-92859A3B1D12}"/>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5" name="Footer Placeholder 4">
            <a:extLst>
              <a:ext uri="{FF2B5EF4-FFF2-40B4-BE49-F238E27FC236}">
                <a16:creationId xmlns:a16="http://schemas.microsoft.com/office/drawing/2014/main" id="{DD0DBD4C-6E7D-BCFC-29C1-D1F5C98662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2362F-E738-7CA0-044C-A5156933086D}"/>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2842391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63AD4-391E-7F8F-D773-1DEF72DE1E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6C5A41-C9B8-93B2-074A-12E15A3342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9BF86-835F-675C-10DA-B21890749845}"/>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5" name="Footer Placeholder 4">
            <a:extLst>
              <a:ext uri="{FF2B5EF4-FFF2-40B4-BE49-F238E27FC236}">
                <a16:creationId xmlns:a16="http://schemas.microsoft.com/office/drawing/2014/main" id="{070DCA01-4F56-CF36-3DA5-5A580FB80F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771A58-D6FB-6B92-2BB8-DF8976C7C581}"/>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1268569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7960A-3191-C339-F5A3-9B783BCE67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D4E2D3-9962-D168-E57E-D9096A1861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B05A26-C4FC-FBD5-FBA1-4469D266FA9F}"/>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5" name="Footer Placeholder 4">
            <a:extLst>
              <a:ext uri="{FF2B5EF4-FFF2-40B4-BE49-F238E27FC236}">
                <a16:creationId xmlns:a16="http://schemas.microsoft.com/office/drawing/2014/main" id="{477E1515-7E7B-0701-21B5-271E1E595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5B6FA2-E5D5-CCA7-F85B-CD39585EBEBD}"/>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4168327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6C17-0310-BF4E-0EA6-96D2D2BA85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73836B-6593-9851-8EB4-956FDCD55E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B00898-D964-2EC9-62D8-0BB83A0927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245E63-07C7-6AA7-545F-174B26EAADA0}"/>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6" name="Footer Placeholder 5">
            <a:extLst>
              <a:ext uri="{FF2B5EF4-FFF2-40B4-BE49-F238E27FC236}">
                <a16:creationId xmlns:a16="http://schemas.microsoft.com/office/drawing/2014/main" id="{6BB44802-CFB6-CA49-C39E-54917DC0B1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E2FB70-349D-A9E0-C483-E54BC50F7110}"/>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579461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257FF-4B29-3E93-0A32-D3D6A527FF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F5C966-B77D-1833-DCA4-FB6D324DCE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160321-E95E-56FD-FF72-74F3F115DC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0EFF70-7A70-A384-237C-6851EAD1AF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1AB734-7A05-5C22-555A-E3B2D2C991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8ACFE7-2091-21FF-4624-ACABDE7A0BAA}"/>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8" name="Footer Placeholder 7">
            <a:extLst>
              <a:ext uri="{FF2B5EF4-FFF2-40B4-BE49-F238E27FC236}">
                <a16:creationId xmlns:a16="http://schemas.microsoft.com/office/drawing/2014/main" id="{007693AA-ED3B-2E31-957B-E9020AC029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A82BB8-6FE2-E713-CA35-EAC097220893}"/>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4142023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CD87D-3787-6881-5677-C797095E85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0C3388-14D3-6295-7FCE-0B57C616296C}"/>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4" name="Footer Placeholder 3">
            <a:extLst>
              <a:ext uri="{FF2B5EF4-FFF2-40B4-BE49-F238E27FC236}">
                <a16:creationId xmlns:a16="http://schemas.microsoft.com/office/drawing/2014/main" id="{49D10FF4-E471-7361-D82A-58674DB5BA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CEDED9-D6AE-3B7C-6AFF-F71E5BDB2084}"/>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3027974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1CA37B-4462-F1E0-F2B4-0FAF747F9B3E}"/>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3" name="Footer Placeholder 2">
            <a:extLst>
              <a:ext uri="{FF2B5EF4-FFF2-40B4-BE49-F238E27FC236}">
                <a16:creationId xmlns:a16="http://schemas.microsoft.com/office/drawing/2014/main" id="{153D1CE5-7B81-E825-E5D6-5959692C08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FDD03C-AAE6-0B1C-FC39-B7ACA2E1F80D}"/>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53080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13973-5884-8C1C-0F47-914A136880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D53FF4-4787-75F3-7367-96141E5A0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DA285E-2C9D-6413-4C18-AD6F7A03D3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C81F4-3C6C-C870-4149-C3EC6C96A88C}"/>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6" name="Footer Placeholder 5">
            <a:extLst>
              <a:ext uri="{FF2B5EF4-FFF2-40B4-BE49-F238E27FC236}">
                <a16:creationId xmlns:a16="http://schemas.microsoft.com/office/drawing/2014/main" id="{EB520E54-995D-410F-C661-CCE2C649F7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82A43E-B993-8917-F616-EDCF9B21CCA9}"/>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2295152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DCEA-D032-B15D-E7F6-AF0B57C35D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791A91-F836-5B7E-0298-A02138DD46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32AECB-FD46-7F61-12D5-6D3E41E2DE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DD0EB3-386B-3901-6A96-36DA2C2803B4}"/>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6" name="Footer Placeholder 5">
            <a:extLst>
              <a:ext uri="{FF2B5EF4-FFF2-40B4-BE49-F238E27FC236}">
                <a16:creationId xmlns:a16="http://schemas.microsoft.com/office/drawing/2014/main" id="{852E7368-9FBB-09E2-A9AE-A7A3A3757D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112AAE-4A32-93E6-443C-E77640096F43}"/>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748410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0F932-2AE3-084E-9D53-59E0E3BE7F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032082-5390-ACFC-42AB-090BBA573C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03EB8C-A8C5-D0BB-CD57-12594F9D152F}"/>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5" name="Footer Placeholder 4">
            <a:extLst>
              <a:ext uri="{FF2B5EF4-FFF2-40B4-BE49-F238E27FC236}">
                <a16:creationId xmlns:a16="http://schemas.microsoft.com/office/drawing/2014/main" id="{564BCF49-7ACE-B83B-1307-911BCA5FA8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B56BA-4D7F-2ED4-01EB-57E7F0987E97}"/>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115180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DE9128-0DA5-E569-2FE8-F66C9A34C7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35D97A-4FA8-E1FB-609E-763AA13B6F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5DDE91-98A9-334B-B5E2-8F04A65457FD}"/>
              </a:ext>
            </a:extLst>
          </p:cNvPr>
          <p:cNvSpPr>
            <a:spLocks noGrp="1"/>
          </p:cNvSpPr>
          <p:nvPr>
            <p:ph type="dt" sz="half" idx="10"/>
          </p:nvPr>
        </p:nvSpPr>
        <p:spPr/>
        <p:txBody>
          <a:bodyPr/>
          <a:lstStyle/>
          <a:p>
            <a:fld id="{AADD00A8-5856-4333-9E75-53D86681312B}" type="datetimeFigureOut">
              <a:rPr lang="en-US" smtClean="0"/>
              <a:t>2/26/2026</a:t>
            </a:fld>
            <a:endParaRPr lang="en-US"/>
          </a:p>
        </p:txBody>
      </p:sp>
      <p:sp>
        <p:nvSpPr>
          <p:cNvPr id="5" name="Footer Placeholder 4">
            <a:extLst>
              <a:ext uri="{FF2B5EF4-FFF2-40B4-BE49-F238E27FC236}">
                <a16:creationId xmlns:a16="http://schemas.microsoft.com/office/drawing/2014/main" id="{437A0F67-29B6-7AC9-56FB-E3B9B1342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419962-04A3-1D92-40EE-AA4CE41377A5}"/>
              </a:ext>
            </a:extLst>
          </p:cNvPr>
          <p:cNvSpPr>
            <a:spLocks noGrp="1"/>
          </p:cNvSpPr>
          <p:nvPr>
            <p:ph type="sldNum" sz="quarter" idx="12"/>
          </p:nvPr>
        </p:nvSpPr>
        <p:spPr/>
        <p:txBody>
          <a:bodyPr/>
          <a:lstStyle/>
          <a:p>
            <a:fld id="{3771211C-FB25-473F-BD5F-FA523F23DF1B}" type="slidenum">
              <a:rPr lang="en-US" smtClean="0"/>
              <a:t>‹#›</a:t>
            </a:fld>
            <a:endParaRPr lang="en-US"/>
          </a:p>
        </p:txBody>
      </p:sp>
    </p:spTree>
    <p:extLst>
      <p:ext uri="{BB962C8B-B14F-4D97-AF65-F5344CB8AC3E}">
        <p14:creationId xmlns:p14="http://schemas.microsoft.com/office/powerpoint/2010/main" val="3836700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60171C-8EA7-7B07-2104-DD70FC5C1D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BB0AFF-EBAF-37F5-ABB0-3E6387116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CA76E2-F080-85ED-4CFD-327BD222C5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D00A8-5856-4333-9E75-53D86681312B}" type="datetimeFigureOut">
              <a:rPr lang="en-US" smtClean="0"/>
              <a:t>2/26/2026</a:t>
            </a:fld>
            <a:endParaRPr lang="en-US"/>
          </a:p>
        </p:txBody>
      </p:sp>
      <p:sp>
        <p:nvSpPr>
          <p:cNvPr id="5" name="Footer Placeholder 4">
            <a:extLst>
              <a:ext uri="{FF2B5EF4-FFF2-40B4-BE49-F238E27FC236}">
                <a16:creationId xmlns:a16="http://schemas.microsoft.com/office/drawing/2014/main" id="{144AB72E-4799-302F-3590-1BF76EDCBE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A5E740-3CF6-FB25-AF28-B123F26C22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71211C-FB25-473F-BD5F-FA523F23DF1B}" type="slidenum">
              <a:rPr lang="en-US" smtClean="0"/>
              <a:t>‹#›</a:t>
            </a:fld>
            <a:endParaRPr lang="en-US"/>
          </a:p>
        </p:txBody>
      </p:sp>
    </p:spTree>
    <p:extLst>
      <p:ext uri="{BB962C8B-B14F-4D97-AF65-F5344CB8AC3E}">
        <p14:creationId xmlns:p14="http://schemas.microsoft.com/office/powerpoint/2010/main" val="550035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3AD62-5A88-E297-72FA-90BD285BF234}"/>
              </a:ext>
            </a:extLst>
          </p:cNvPr>
          <p:cNvSpPr>
            <a:spLocks noGrp="1"/>
          </p:cNvSpPr>
          <p:nvPr>
            <p:ph type="ctrTitle"/>
          </p:nvPr>
        </p:nvSpPr>
        <p:spPr>
          <a:xfrm>
            <a:off x="1524000" y="-1"/>
            <a:ext cx="9144000" cy="3509963"/>
          </a:xfrm>
        </p:spPr>
        <p:txBody>
          <a:bodyPr>
            <a:normAutofit/>
          </a:bodyPr>
          <a:lstStyle/>
          <a:p>
            <a:r>
              <a:rPr lang="en-US" b="1" dirty="0">
                <a:highlight>
                  <a:srgbClr val="FFFF00"/>
                </a:highlight>
              </a:rPr>
              <a:t>From Dough to Dollars</a:t>
            </a:r>
          </a:p>
        </p:txBody>
      </p:sp>
      <p:sp>
        <p:nvSpPr>
          <p:cNvPr id="3" name="Subtitle 2">
            <a:extLst>
              <a:ext uri="{FF2B5EF4-FFF2-40B4-BE49-F238E27FC236}">
                <a16:creationId xmlns:a16="http://schemas.microsoft.com/office/drawing/2014/main" id="{F366AAD9-BB94-D934-2464-61987F2055EA}"/>
              </a:ext>
            </a:extLst>
          </p:cNvPr>
          <p:cNvSpPr>
            <a:spLocks noGrp="1"/>
          </p:cNvSpPr>
          <p:nvPr>
            <p:ph type="subTitle" idx="1"/>
          </p:nvPr>
        </p:nvSpPr>
        <p:spPr>
          <a:xfrm>
            <a:off x="1524000" y="3602037"/>
            <a:ext cx="9144000" cy="3009777"/>
          </a:xfrm>
        </p:spPr>
        <p:txBody>
          <a:bodyPr>
            <a:normAutofit/>
          </a:bodyPr>
          <a:lstStyle/>
          <a:p>
            <a:r>
              <a:rPr lang="en-US" dirty="0"/>
              <a:t>A Data Driven Sales Analysis of Delicious Pizza Co.</a:t>
            </a:r>
            <a:br>
              <a:rPr lang="en-US" dirty="0"/>
            </a:br>
            <a:r>
              <a:rPr lang="en-US" dirty="0"/>
              <a:t>Prepared by: Beatrice Wambui Wakonyo</a:t>
            </a:r>
            <a:br>
              <a:rPr lang="en-US" dirty="0"/>
            </a:br>
            <a:r>
              <a:rPr lang="en-US" dirty="0"/>
              <a:t>Date : February,2026 </a:t>
            </a:r>
            <a:br>
              <a:rPr lang="en-US" dirty="0"/>
            </a:br>
            <a:r>
              <a:rPr lang="en-US" dirty="0"/>
              <a:t>Tool Used: MySQL | PowerPoint | Dashboard</a:t>
            </a:r>
          </a:p>
        </p:txBody>
      </p:sp>
      <p:pic>
        <p:nvPicPr>
          <p:cNvPr id="5" name="Picture 4">
            <a:extLst>
              <a:ext uri="{FF2B5EF4-FFF2-40B4-BE49-F238E27FC236}">
                <a16:creationId xmlns:a16="http://schemas.microsoft.com/office/drawing/2014/main" id="{8B0B68D3-C3B4-753C-7929-655E62B78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0339" y="0"/>
            <a:ext cx="4431322" cy="2387600"/>
          </a:xfrm>
          <a:prstGeom prst="rect">
            <a:avLst/>
          </a:prstGeom>
        </p:spPr>
      </p:pic>
    </p:spTree>
    <p:extLst>
      <p:ext uri="{BB962C8B-B14F-4D97-AF65-F5344CB8AC3E}">
        <p14:creationId xmlns:p14="http://schemas.microsoft.com/office/powerpoint/2010/main" val="3471139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46F58-0ADC-DF0B-9581-2386A5698163}"/>
              </a:ext>
            </a:extLst>
          </p:cNvPr>
          <p:cNvSpPr>
            <a:spLocks noGrp="1"/>
          </p:cNvSpPr>
          <p:nvPr>
            <p:ph type="title"/>
          </p:nvPr>
        </p:nvSpPr>
        <p:spPr>
          <a:xfrm>
            <a:off x="838200" y="253219"/>
            <a:ext cx="10767646" cy="1437470"/>
          </a:xfrm>
        </p:spPr>
        <p:txBody>
          <a:bodyPr>
            <a:normAutofit fontScale="90000"/>
          </a:bodyPr>
          <a:lstStyle/>
          <a:p>
            <a:r>
              <a:rPr lang="en-US" dirty="0">
                <a:highlight>
                  <a:srgbClr val="000080"/>
                </a:highlight>
              </a:rPr>
              <a:t>Data Exploration &amp; Findings</a:t>
            </a:r>
            <a:br>
              <a:rPr lang="en-US" dirty="0">
                <a:highlight>
                  <a:srgbClr val="FFFF00"/>
                </a:highlight>
              </a:rPr>
            </a:br>
            <a:br>
              <a:rPr lang="en-US" dirty="0">
                <a:highlight>
                  <a:srgbClr val="FFFF00"/>
                </a:highlight>
              </a:rPr>
            </a:br>
            <a:endParaRPr lang="en-US" dirty="0">
              <a:highlight>
                <a:srgbClr val="FFFF00"/>
              </a:highlight>
            </a:endParaRPr>
          </a:p>
        </p:txBody>
      </p:sp>
      <p:sp>
        <p:nvSpPr>
          <p:cNvPr id="3" name="Content Placeholder 2">
            <a:extLst>
              <a:ext uri="{FF2B5EF4-FFF2-40B4-BE49-F238E27FC236}">
                <a16:creationId xmlns:a16="http://schemas.microsoft.com/office/drawing/2014/main" id="{6DE616DC-D34E-30BF-2186-8FB10D51DA09}"/>
              </a:ext>
            </a:extLst>
          </p:cNvPr>
          <p:cNvSpPr>
            <a:spLocks noGrp="1"/>
          </p:cNvSpPr>
          <p:nvPr>
            <p:ph idx="1"/>
          </p:nvPr>
        </p:nvSpPr>
        <p:spPr/>
        <p:txBody>
          <a:bodyPr/>
          <a:lstStyle/>
          <a:p>
            <a:pPr marL="0" indent="0">
              <a:buNone/>
            </a:pPr>
            <a:r>
              <a:rPr lang="en-US" dirty="0">
                <a:highlight>
                  <a:srgbClr val="000080"/>
                </a:highlight>
              </a:rPr>
              <a:t>Revenue Overview</a:t>
            </a:r>
          </a:p>
          <a:p>
            <a:pPr marL="0" indent="0">
              <a:buNone/>
            </a:pPr>
            <a:r>
              <a:rPr lang="en-US" dirty="0">
                <a:highlight>
                  <a:srgbClr val="00FFFF"/>
                </a:highlight>
              </a:rPr>
              <a:t>The total revenue generated over the entire year</a:t>
            </a:r>
          </a:p>
          <a:p>
            <a:r>
              <a:rPr lang="en-US" dirty="0"/>
              <a:t>SELECT</a:t>
            </a:r>
          </a:p>
          <a:p>
            <a:r>
              <a:rPr lang="en-US" dirty="0"/>
              <a:t>SUM(</a:t>
            </a:r>
            <a:r>
              <a:rPr lang="en-US" dirty="0" err="1"/>
              <a:t>total_price</a:t>
            </a:r>
            <a:r>
              <a:rPr lang="en-US" dirty="0"/>
              <a:t>) AS </a:t>
            </a:r>
            <a:r>
              <a:rPr lang="en-US" dirty="0" err="1"/>
              <a:t>Total_Revenue</a:t>
            </a:r>
            <a:endParaRPr lang="en-US" dirty="0"/>
          </a:p>
          <a:p>
            <a:r>
              <a:rPr lang="en-US" dirty="0"/>
              <a:t>FROM </a:t>
            </a:r>
            <a:r>
              <a:rPr lang="en-US" dirty="0" err="1"/>
              <a:t>delicious_pizza_analytics_table</a:t>
            </a:r>
            <a:r>
              <a:rPr lang="en-US" dirty="0"/>
              <a:t>;</a:t>
            </a:r>
          </a:p>
          <a:p>
            <a:endParaRPr lang="en-US" dirty="0"/>
          </a:p>
        </p:txBody>
      </p:sp>
      <p:pic>
        <p:nvPicPr>
          <p:cNvPr id="4" name="Picture 3">
            <a:extLst>
              <a:ext uri="{FF2B5EF4-FFF2-40B4-BE49-F238E27FC236}">
                <a16:creationId xmlns:a16="http://schemas.microsoft.com/office/drawing/2014/main" id="{15AC68C5-6CBB-271C-C9DF-31C0913300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7526" y="4491330"/>
            <a:ext cx="3113797" cy="1234221"/>
          </a:xfrm>
          <a:prstGeom prst="rect">
            <a:avLst/>
          </a:prstGeom>
        </p:spPr>
      </p:pic>
    </p:spTree>
    <p:extLst>
      <p:ext uri="{BB962C8B-B14F-4D97-AF65-F5344CB8AC3E}">
        <p14:creationId xmlns:p14="http://schemas.microsoft.com/office/powerpoint/2010/main" val="53725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2F63B-9FD0-D58A-226B-CBE6EACE081E}"/>
              </a:ext>
            </a:extLst>
          </p:cNvPr>
          <p:cNvSpPr>
            <a:spLocks noGrp="1"/>
          </p:cNvSpPr>
          <p:nvPr>
            <p:ph type="title"/>
          </p:nvPr>
        </p:nvSpPr>
        <p:spPr/>
        <p:txBody>
          <a:bodyPr/>
          <a:lstStyle/>
          <a:p>
            <a:r>
              <a:rPr lang="en-US" dirty="0">
                <a:highlight>
                  <a:srgbClr val="00FFFF"/>
                </a:highlight>
              </a:rPr>
              <a:t>The average order value</a:t>
            </a:r>
          </a:p>
        </p:txBody>
      </p:sp>
      <p:sp>
        <p:nvSpPr>
          <p:cNvPr id="3" name="Content Placeholder 2">
            <a:extLst>
              <a:ext uri="{FF2B5EF4-FFF2-40B4-BE49-F238E27FC236}">
                <a16:creationId xmlns:a16="http://schemas.microsoft.com/office/drawing/2014/main" id="{EECFC2FB-8708-E47A-BE9D-C3AACD22147A}"/>
              </a:ext>
            </a:extLst>
          </p:cNvPr>
          <p:cNvSpPr>
            <a:spLocks noGrp="1"/>
          </p:cNvSpPr>
          <p:nvPr>
            <p:ph idx="1"/>
          </p:nvPr>
        </p:nvSpPr>
        <p:spPr/>
        <p:txBody>
          <a:bodyPr/>
          <a:lstStyle/>
          <a:p>
            <a:r>
              <a:rPr lang="en-US" dirty="0"/>
              <a:t>SELECT</a:t>
            </a:r>
          </a:p>
          <a:p>
            <a:r>
              <a:rPr lang="en-US" dirty="0"/>
              <a:t>SUM(</a:t>
            </a:r>
            <a:r>
              <a:rPr lang="en-US" dirty="0" err="1"/>
              <a:t>total_price</a:t>
            </a:r>
            <a:r>
              <a:rPr lang="en-US" dirty="0"/>
              <a:t>)/COUNT(DISTINCT </a:t>
            </a:r>
            <a:r>
              <a:rPr lang="en-US" dirty="0" err="1"/>
              <a:t>order_id</a:t>
            </a:r>
            <a:r>
              <a:rPr lang="en-US" dirty="0"/>
              <a:t>) AS </a:t>
            </a:r>
            <a:r>
              <a:rPr lang="en-US" dirty="0" err="1"/>
              <a:t>Average_Order_Value</a:t>
            </a:r>
            <a:endParaRPr lang="en-US" dirty="0"/>
          </a:p>
          <a:p>
            <a:r>
              <a:rPr lang="en-US" dirty="0"/>
              <a:t>FROM </a:t>
            </a:r>
            <a:r>
              <a:rPr lang="en-US" dirty="0" err="1"/>
              <a:t>delicious_pizza_analytics_table</a:t>
            </a:r>
            <a:r>
              <a:rPr lang="en-US" dirty="0"/>
              <a:t>;</a:t>
            </a:r>
          </a:p>
          <a:p>
            <a:endParaRPr lang="en-US" dirty="0"/>
          </a:p>
        </p:txBody>
      </p:sp>
      <p:pic>
        <p:nvPicPr>
          <p:cNvPr id="4" name="Picture 3">
            <a:extLst>
              <a:ext uri="{FF2B5EF4-FFF2-40B4-BE49-F238E27FC236}">
                <a16:creationId xmlns:a16="http://schemas.microsoft.com/office/drawing/2014/main" id="{3A11B423-3345-E4E5-0403-D3E8B5E870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8972" y="3826412"/>
            <a:ext cx="3727939" cy="1772529"/>
          </a:xfrm>
          <a:prstGeom prst="rect">
            <a:avLst/>
          </a:prstGeom>
        </p:spPr>
      </p:pic>
    </p:spTree>
    <p:extLst>
      <p:ext uri="{BB962C8B-B14F-4D97-AF65-F5344CB8AC3E}">
        <p14:creationId xmlns:p14="http://schemas.microsoft.com/office/powerpoint/2010/main" val="1242393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605E-D855-2635-CABC-CE51595E3418}"/>
              </a:ext>
            </a:extLst>
          </p:cNvPr>
          <p:cNvSpPr>
            <a:spLocks noGrp="1"/>
          </p:cNvSpPr>
          <p:nvPr>
            <p:ph type="title"/>
          </p:nvPr>
        </p:nvSpPr>
        <p:spPr/>
        <p:txBody>
          <a:bodyPr/>
          <a:lstStyle/>
          <a:p>
            <a:r>
              <a:rPr lang="en-US" dirty="0">
                <a:highlight>
                  <a:srgbClr val="00FFFF"/>
                </a:highlight>
              </a:rPr>
              <a:t>The total pizzas sold</a:t>
            </a:r>
          </a:p>
        </p:txBody>
      </p:sp>
      <p:sp>
        <p:nvSpPr>
          <p:cNvPr id="3" name="Content Placeholder 2">
            <a:extLst>
              <a:ext uri="{FF2B5EF4-FFF2-40B4-BE49-F238E27FC236}">
                <a16:creationId xmlns:a16="http://schemas.microsoft.com/office/drawing/2014/main" id="{E471710E-B87D-AEB5-F557-3DDE67B180BF}"/>
              </a:ext>
            </a:extLst>
          </p:cNvPr>
          <p:cNvSpPr>
            <a:spLocks noGrp="1"/>
          </p:cNvSpPr>
          <p:nvPr>
            <p:ph sz="half" idx="1"/>
          </p:nvPr>
        </p:nvSpPr>
        <p:spPr/>
        <p:txBody>
          <a:bodyPr/>
          <a:lstStyle/>
          <a:p>
            <a:r>
              <a:rPr lang="en-US" dirty="0"/>
              <a:t>SELECT</a:t>
            </a:r>
          </a:p>
          <a:p>
            <a:r>
              <a:rPr lang="en-US" dirty="0"/>
              <a:t>SUM(quantity) AS </a:t>
            </a:r>
            <a:r>
              <a:rPr lang="en-US" dirty="0" err="1"/>
              <a:t>Total_Pizza_Sold</a:t>
            </a:r>
            <a:endParaRPr lang="en-US" dirty="0"/>
          </a:p>
          <a:p>
            <a:r>
              <a:rPr lang="en-US" dirty="0"/>
              <a:t>FROM </a:t>
            </a:r>
            <a:r>
              <a:rPr lang="en-US" dirty="0" err="1"/>
              <a:t>delicious_pizza_analytics_table</a:t>
            </a:r>
            <a:r>
              <a:rPr lang="en-US" dirty="0"/>
              <a:t>;</a:t>
            </a:r>
          </a:p>
          <a:p>
            <a:endParaRPr lang="en-US" dirty="0"/>
          </a:p>
        </p:txBody>
      </p:sp>
      <p:pic>
        <p:nvPicPr>
          <p:cNvPr id="5" name="Content Placeholder 4">
            <a:extLst>
              <a:ext uri="{FF2B5EF4-FFF2-40B4-BE49-F238E27FC236}">
                <a16:creationId xmlns:a16="http://schemas.microsoft.com/office/drawing/2014/main" id="{7627CE57-2954-6628-1295-3C57937F829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223889" y="4234375"/>
            <a:ext cx="3291840" cy="2431701"/>
          </a:xfrm>
          <a:prstGeom prst="rect">
            <a:avLst/>
          </a:prstGeom>
        </p:spPr>
      </p:pic>
    </p:spTree>
    <p:extLst>
      <p:ext uri="{BB962C8B-B14F-4D97-AF65-F5344CB8AC3E}">
        <p14:creationId xmlns:p14="http://schemas.microsoft.com/office/powerpoint/2010/main" val="3976524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1739D-911C-257A-AE63-D69906C32D09}"/>
              </a:ext>
            </a:extLst>
          </p:cNvPr>
          <p:cNvSpPr>
            <a:spLocks noGrp="1"/>
          </p:cNvSpPr>
          <p:nvPr>
            <p:ph type="title"/>
          </p:nvPr>
        </p:nvSpPr>
        <p:spPr/>
        <p:txBody>
          <a:bodyPr/>
          <a:lstStyle/>
          <a:p>
            <a:r>
              <a:rPr lang="en-US" dirty="0">
                <a:highlight>
                  <a:srgbClr val="00FFFF"/>
                </a:highlight>
              </a:rPr>
              <a:t>unique orders  placed</a:t>
            </a:r>
          </a:p>
        </p:txBody>
      </p:sp>
      <p:sp>
        <p:nvSpPr>
          <p:cNvPr id="3" name="Content Placeholder 2">
            <a:extLst>
              <a:ext uri="{FF2B5EF4-FFF2-40B4-BE49-F238E27FC236}">
                <a16:creationId xmlns:a16="http://schemas.microsoft.com/office/drawing/2014/main" id="{1E5F675D-0439-C269-73B7-4CF33004B7A3}"/>
              </a:ext>
            </a:extLst>
          </p:cNvPr>
          <p:cNvSpPr>
            <a:spLocks noGrp="1"/>
          </p:cNvSpPr>
          <p:nvPr>
            <p:ph idx="1"/>
          </p:nvPr>
        </p:nvSpPr>
        <p:spPr/>
        <p:txBody>
          <a:bodyPr/>
          <a:lstStyle/>
          <a:p>
            <a:r>
              <a:rPr lang="en-US" dirty="0"/>
              <a:t>SELECT</a:t>
            </a:r>
          </a:p>
          <a:p>
            <a:r>
              <a:rPr lang="en-US" dirty="0"/>
              <a:t>COUNT(DISTINCT </a:t>
            </a:r>
            <a:r>
              <a:rPr lang="en-US" dirty="0" err="1"/>
              <a:t>order_id</a:t>
            </a:r>
            <a:r>
              <a:rPr lang="en-US" dirty="0"/>
              <a:t>) AS </a:t>
            </a:r>
            <a:r>
              <a:rPr lang="en-US" dirty="0" err="1"/>
              <a:t>Unique_Orders_Placed</a:t>
            </a:r>
            <a:endParaRPr lang="en-US" dirty="0"/>
          </a:p>
          <a:p>
            <a:r>
              <a:rPr lang="en-US" dirty="0"/>
              <a:t>FROM </a:t>
            </a:r>
            <a:r>
              <a:rPr lang="en-US" dirty="0" err="1"/>
              <a:t>delicious_pizza_analytics_table</a:t>
            </a:r>
            <a:r>
              <a:rPr lang="en-US" dirty="0"/>
              <a:t>;</a:t>
            </a:r>
          </a:p>
          <a:p>
            <a:endParaRPr lang="en-US" dirty="0"/>
          </a:p>
        </p:txBody>
      </p:sp>
      <p:pic>
        <p:nvPicPr>
          <p:cNvPr id="4" name="Picture 3">
            <a:extLst>
              <a:ext uri="{FF2B5EF4-FFF2-40B4-BE49-F238E27FC236}">
                <a16:creationId xmlns:a16="http://schemas.microsoft.com/office/drawing/2014/main" id="{17B0590A-2DBC-34CE-2F68-2DE953989B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958" y="3559126"/>
            <a:ext cx="4065562" cy="1927273"/>
          </a:xfrm>
          <a:prstGeom prst="rect">
            <a:avLst/>
          </a:prstGeom>
        </p:spPr>
      </p:pic>
    </p:spTree>
    <p:extLst>
      <p:ext uri="{BB962C8B-B14F-4D97-AF65-F5344CB8AC3E}">
        <p14:creationId xmlns:p14="http://schemas.microsoft.com/office/powerpoint/2010/main" val="2122490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44139-C740-6035-4644-63262E1D4370}"/>
              </a:ext>
            </a:extLst>
          </p:cNvPr>
          <p:cNvSpPr>
            <a:spLocks noGrp="1"/>
          </p:cNvSpPr>
          <p:nvPr>
            <p:ph type="title"/>
          </p:nvPr>
        </p:nvSpPr>
        <p:spPr/>
        <p:txBody>
          <a:bodyPr/>
          <a:lstStyle/>
          <a:p>
            <a:r>
              <a:rPr lang="en-US" dirty="0">
                <a:highlight>
                  <a:srgbClr val="00FFFF"/>
                </a:highlight>
              </a:rPr>
              <a:t>The average number of pizzas per order</a:t>
            </a:r>
          </a:p>
        </p:txBody>
      </p:sp>
      <p:sp>
        <p:nvSpPr>
          <p:cNvPr id="3" name="Content Placeholder 2">
            <a:extLst>
              <a:ext uri="{FF2B5EF4-FFF2-40B4-BE49-F238E27FC236}">
                <a16:creationId xmlns:a16="http://schemas.microsoft.com/office/drawing/2014/main" id="{30D5F1B0-7290-95E9-EC09-D469CCD709E7}"/>
              </a:ext>
            </a:extLst>
          </p:cNvPr>
          <p:cNvSpPr>
            <a:spLocks noGrp="1"/>
          </p:cNvSpPr>
          <p:nvPr>
            <p:ph idx="1"/>
          </p:nvPr>
        </p:nvSpPr>
        <p:spPr/>
        <p:txBody>
          <a:bodyPr/>
          <a:lstStyle/>
          <a:p>
            <a:r>
              <a:rPr lang="en-US" dirty="0"/>
              <a:t>SELECT</a:t>
            </a:r>
          </a:p>
          <a:p>
            <a:r>
              <a:rPr lang="en-US" dirty="0"/>
              <a:t>SUM(quantity)/COUNT(DISTINCT </a:t>
            </a:r>
            <a:r>
              <a:rPr lang="en-US" dirty="0" err="1"/>
              <a:t>order_id</a:t>
            </a:r>
            <a:r>
              <a:rPr lang="en-US" dirty="0"/>
              <a:t>) AS </a:t>
            </a:r>
            <a:r>
              <a:rPr lang="en-US" dirty="0" err="1"/>
              <a:t>Average_Pizza_per_order</a:t>
            </a:r>
            <a:endParaRPr lang="en-US" dirty="0"/>
          </a:p>
          <a:p>
            <a:r>
              <a:rPr lang="en-US" dirty="0"/>
              <a:t>FROM </a:t>
            </a:r>
            <a:r>
              <a:rPr lang="en-US" dirty="0" err="1"/>
              <a:t>delicious_pizza_analytics_table</a:t>
            </a:r>
            <a:r>
              <a:rPr lang="en-US" dirty="0"/>
              <a:t>;</a:t>
            </a:r>
          </a:p>
          <a:p>
            <a:endParaRPr lang="en-US" dirty="0"/>
          </a:p>
        </p:txBody>
      </p:sp>
      <p:pic>
        <p:nvPicPr>
          <p:cNvPr id="4" name="Picture 3">
            <a:extLst>
              <a:ext uri="{FF2B5EF4-FFF2-40B4-BE49-F238E27FC236}">
                <a16:creationId xmlns:a16="http://schemas.microsoft.com/office/drawing/2014/main" id="{CFB6A936-6CF5-2745-C2C4-8FA2FB38B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6430" y="3898729"/>
            <a:ext cx="3742005" cy="1854957"/>
          </a:xfrm>
          <a:prstGeom prst="rect">
            <a:avLst/>
          </a:prstGeom>
        </p:spPr>
      </p:pic>
    </p:spTree>
    <p:extLst>
      <p:ext uri="{BB962C8B-B14F-4D97-AF65-F5344CB8AC3E}">
        <p14:creationId xmlns:p14="http://schemas.microsoft.com/office/powerpoint/2010/main" val="2082889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4436-B0B6-A36C-D6BD-DF54D43005C3}"/>
              </a:ext>
            </a:extLst>
          </p:cNvPr>
          <p:cNvSpPr>
            <a:spLocks noGrp="1"/>
          </p:cNvSpPr>
          <p:nvPr>
            <p:ph type="title"/>
          </p:nvPr>
        </p:nvSpPr>
        <p:spPr/>
        <p:txBody>
          <a:bodyPr/>
          <a:lstStyle/>
          <a:p>
            <a:r>
              <a:rPr lang="en-US" dirty="0">
                <a:highlight>
                  <a:srgbClr val="00FFFF"/>
                </a:highlight>
              </a:rPr>
              <a:t>What the Data Revealed</a:t>
            </a:r>
          </a:p>
        </p:txBody>
      </p:sp>
      <p:sp>
        <p:nvSpPr>
          <p:cNvPr id="3" name="Content Placeholder 2">
            <a:extLst>
              <a:ext uri="{FF2B5EF4-FFF2-40B4-BE49-F238E27FC236}">
                <a16:creationId xmlns:a16="http://schemas.microsoft.com/office/drawing/2014/main" id="{9DC06A73-19A2-4F8C-100E-D9D7D8211910}"/>
              </a:ext>
            </a:extLst>
          </p:cNvPr>
          <p:cNvSpPr>
            <a:spLocks noGrp="1"/>
          </p:cNvSpPr>
          <p:nvPr>
            <p:ph idx="1"/>
          </p:nvPr>
        </p:nvSpPr>
        <p:spPr/>
        <p:txBody>
          <a:bodyPr>
            <a:normAutofit fontScale="92500" lnSpcReduction="20000"/>
          </a:bodyPr>
          <a:lstStyle/>
          <a:p>
            <a:r>
              <a:rPr lang="en-US" b="1" u="sng" dirty="0"/>
              <a:t>Revenue Summary Overview</a:t>
            </a:r>
            <a:endParaRPr lang="en-US" dirty="0"/>
          </a:p>
          <a:p>
            <a:r>
              <a:rPr lang="en-US" dirty="0"/>
              <a:t>Delicious Pizza generated a total revenue of </a:t>
            </a:r>
            <a:r>
              <a:rPr lang="en-US" b="1" dirty="0"/>
              <a:t>$817,860</a:t>
            </a:r>
            <a:r>
              <a:rPr lang="en-US" dirty="0"/>
              <a:t> over the year, reflecting a strong overall performance for a single location pizza operation. With </a:t>
            </a:r>
            <a:r>
              <a:rPr lang="en-US" b="1" dirty="0"/>
              <a:t>49,574 pizzas</a:t>
            </a:r>
            <a:r>
              <a:rPr lang="en-US" dirty="0"/>
              <a:t> sold across </a:t>
            </a:r>
            <a:r>
              <a:rPr lang="en-US" b="1" dirty="0"/>
              <a:t>2,130 unique orders</a:t>
            </a:r>
            <a:r>
              <a:rPr lang="en-US" dirty="0"/>
              <a:t>, the business averaged </a:t>
            </a:r>
            <a:r>
              <a:rPr lang="en-US" b="1" dirty="0"/>
              <a:t>2.32 pizzas per order</a:t>
            </a:r>
            <a:r>
              <a:rPr lang="en-US" dirty="0"/>
              <a:t> and an average order value of </a:t>
            </a:r>
            <a:r>
              <a:rPr lang="en-US" b="1" dirty="0"/>
              <a:t>$38.30</a:t>
            </a:r>
            <a:r>
              <a:rPr lang="en-US" dirty="0"/>
              <a:t>, indicating that customers consistently order for groups rather than individual meals. This pattern suggests the core customer base is families or small gatherings, which presents a clear opportunity to introduce meal deal bundles or family packages that could push the average order value even higher. However, the relatively low number of unique orders at 2,130 across a full year raises a question about daily customer footfall and whether the business is overly reliant on a smaller pool of repeat or bulk customers. Growing the number of unique orders through new customer acquisition should be a priority for the year ahead.</a:t>
            </a:r>
          </a:p>
          <a:p>
            <a:endParaRPr lang="en-US" dirty="0"/>
          </a:p>
        </p:txBody>
      </p:sp>
    </p:spTree>
    <p:extLst>
      <p:ext uri="{BB962C8B-B14F-4D97-AF65-F5344CB8AC3E}">
        <p14:creationId xmlns:p14="http://schemas.microsoft.com/office/powerpoint/2010/main" val="69097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3E72D-5F99-9FC0-ADE2-0DE084B85501}"/>
              </a:ext>
            </a:extLst>
          </p:cNvPr>
          <p:cNvSpPr>
            <a:spLocks noGrp="1"/>
          </p:cNvSpPr>
          <p:nvPr>
            <p:ph type="title"/>
          </p:nvPr>
        </p:nvSpPr>
        <p:spPr/>
        <p:txBody>
          <a:bodyPr/>
          <a:lstStyle/>
          <a:p>
            <a:r>
              <a:rPr lang="en-US" b="1" dirty="0">
                <a:highlight>
                  <a:srgbClr val="000080"/>
                </a:highlight>
              </a:rPr>
              <a:t>Sales Trends Over Time</a:t>
            </a:r>
          </a:p>
        </p:txBody>
      </p:sp>
      <p:sp>
        <p:nvSpPr>
          <p:cNvPr id="3" name="Content Placeholder 2">
            <a:extLst>
              <a:ext uri="{FF2B5EF4-FFF2-40B4-BE49-F238E27FC236}">
                <a16:creationId xmlns:a16="http://schemas.microsoft.com/office/drawing/2014/main" id="{5061B04A-1F47-EE89-B5FF-6761E52DC89C}"/>
              </a:ext>
            </a:extLst>
          </p:cNvPr>
          <p:cNvSpPr>
            <a:spLocks noGrp="1"/>
          </p:cNvSpPr>
          <p:nvPr>
            <p:ph idx="1"/>
          </p:nvPr>
        </p:nvSpPr>
        <p:spPr/>
        <p:txBody>
          <a:bodyPr/>
          <a:lstStyle/>
          <a:p>
            <a:r>
              <a:rPr lang="en-US" b="1" dirty="0">
                <a:highlight>
                  <a:srgbClr val="00FFFF"/>
                </a:highlight>
              </a:rPr>
              <a:t>Monthly revenue totals</a:t>
            </a:r>
          </a:p>
          <a:p>
            <a:r>
              <a:rPr lang="en-US" dirty="0"/>
              <a:t>SELECT</a:t>
            </a:r>
          </a:p>
          <a:p>
            <a:r>
              <a:rPr lang="en-US" dirty="0"/>
              <a:t>MONTHNAME(</a:t>
            </a:r>
            <a:r>
              <a:rPr lang="en-US" dirty="0" err="1"/>
              <a:t>order_date</a:t>
            </a:r>
            <a:r>
              <a:rPr lang="en-US" dirty="0"/>
              <a:t>) AS </a:t>
            </a:r>
            <a:r>
              <a:rPr lang="en-US" dirty="0" err="1"/>
              <a:t>Month_Name</a:t>
            </a:r>
            <a:r>
              <a:rPr lang="en-US" dirty="0"/>
              <a:t>,</a:t>
            </a:r>
          </a:p>
          <a:p>
            <a:r>
              <a:rPr lang="en-US" dirty="0"/>
              <a:t>SUM(</a:t>
            </a:r>
            <a:r>
              <a:rPr lang="en-US" dirty="0" err="1"/>
              <a:t>total_price</a:t>
            </a:r>
            <a:r>
              <a:rPr lang="en-US" dirty="0"/>
              <a:t>) AS </a:t>
            </a:r>
            <a:r>
              <a:rPr lang="en-US" dirty="0" err="1"/>
              <a:t>Total_Revenue_Per_Month</a:t>
            </a:r>
            <a:endParaRPr lang="en-US" dirty="0"/>
          </a:p>
          <a:p>
            <a:r>
              <a:rPr lang="en-US" dirty="0"/>
              <a:t>FROM </a:t>
            </a:r>
            <a:r>
              <a:rPr lang="en-US" dirty="0" err="1"/>
              <a:t>delicious_pizza_analytics_table</a:t>
            </a:r>
            <a:endParaRPr lang="en-US" dirty="0"/>
          </a:p>
          <a:p>
            <a:r>
              <a:rPr lang="en-US" dirty="0"/>
              <a:t>GROUP BY </a:t>
            </a:r>
            <a:r>
              <a:rPr lang="en-US" dirty="0" err="1"/>
              <a:t>Month_Name</a:t>
            </a:r>
            <a:r>
              <a:rPr lang="en-US" dirty="0"/>
              <a:t>;</a:t>
            </a:r>
          </a:p>
          <a:p>
            <a:endParaRPr lang="en-US" b="1" dirty="0">
              <a:highlight>
                <a:srgbClr val="00FFFF"/>
              </a:highlight>
            </a:endParaRPr>
          </a:p>
        </p:txBody>
      </p:sp>
      <p:pic>
        <p:nvPicPr>
          <p:cNvPr id="4" name="Picture 3">
            <a:extLst>
              <a:ext uri="{FF2B5EF4-FFF2-40B4-BE49-F238E27FC236}">
                <a16:creationId xmlns:a16="http://schemas.microsoft.com/office/drawing/2014/main" id="{1E99EFD4-7853-F32E-C9E4-ADD5E8E6F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4052" y="2000177"/>
            <a:ext cx="3259748" cy="3331477"/>
          </a:xfrm>
          <a:prstGeom prst="rect">
            <a:avLst/>
          </a:prstGeom>
        </p:spPr>
      </p:pic>
    </p:spTree>
    <p:extLst>
      <p:ext uri="{BB962C8B-B14F-4D97-AF65-F5344CB8AC3E}">
        <p14:creationId xmlns:p14="http://schemas.microsoft.com/office/powerpoint/2010/main" val="746128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4B19E-1210-D01D-4E51-7A387C0EDDAE}"/>
              </a:ext>
            </a:extLst>
          </p:cNvPr>
          <p:cNvSpPr>
            <a:spLocks noGrp="1"/>
          </p:cNvSpPr>
          <p:nvPr>
            <p:ph type="title"/>
          </p:nvPr>
        </p:nvSpPr>
        <p:spPr/>
        <p:txBody>
          <a:bodyPr/>
          <a:lstStyle/>
          <a:p>
            <a:r>
              <a:rPr lang="en-US" dirty="0">
                <a:highlight>
                  <a:srgbClr val="00FFFF"/>
                </a:highlight>
              </a:rPr>
              <a:t>Month performed best by revenue</a:t>
            </a:r>
          </a:p>
        </p:txBody>
      </p:sp>
      <p:sp>
        <p:nvSpPr>
          <p:cNvPr id="3" name="Content Placeholder 2">
            <a:extLst>
              <a:ext uri="{FF2B5EF4-FFF2-40B4-BE49-F238E27FC236}">
                <a16:creationId xmlns:a16="http://schemas.microsoft.com/office/drawing/2014/main" id="{E50E142F-895A-01E3-8AE4-714F2A6028CA}"/>
              </a:ext>
            </a:extLst>
          </p:cNvPr>
          <p:cNvSpPr>
            <a:spLocks noGrp="1"/>
          </p:cNvSpPr>
          <p:nvPr>
            <p:ph idx="1"/>
          </p:nvPr>
        </p:nvSpPr>
        <p:spPr/>
        <p:txBody>
          <a:bodyPr/>
          <a:lstStyle/>
          <a:p>
            <a:r>
              <a:rPr lang="en-US" dirty="0"/>
              <a:t>SELECT</a:t>
            </a:r>
          </a:p>
          <a:p>
            <a:r>
              <a:rPr lang="en-US" dirty="0"/>
              <a:t>SUM(</a:t>
            </a:r>
            <a:r>
              <a:rPr lang="en-US" dirty="0" err="1"/>
              <a:t>total_price</a:t>
            </a:r>
            <a:r>
              <a:rPr lang="en-US" dirty="0"/>
              <a:t>) AS </a:t>
            </a:r>
            <a:r>
              <a:rPr lang="en-US" dirty="0" err="1"/>
              <a:t>Total_Revenue</a:t>
            </a:r>
            <a:r>
              <a:rPr lang="en-US" dirty="0"/>
              <a:t>,</a:t>
            </a:r>
          </a:p>
          <a:p>
            <a:r>
              <a:rPr lang="en-US" dirty="0"/>
              <a:t>MONTHNAME(</a:t>
            </a:r>
            <a:r>
              <a:rPr lang="en-US" dirty="0" err="1"/>
              <a:t>order_date</a:t>
            </a:r>
            <a:r>
              <a:rPr lang="en-US" dirty="0"/>
              <a:t>) AS </a:t>
            </a:r>
            <a:r>
              <a:rPr lang="en-US" dirty="0" err="1"/>
              <a:t>Month_Name</a:t>
            </a:r>
            <a:endParaRPr lang="en-US" dirty="0"/>
          </a:p>
          <a:p>
            <a:r>
              <a:rPr lang="en-US" dirty="0"/>
              <a:t>FROM </a:t>
            </a:r>
            <a:r>
              <a:rPr lang="en-US" dirty="0" err="1"/>
              <a:t>delicious_pizza_analytics_table</a:t>
            </a:r>
            <a:endParaRPr lang="en-US" dirty="0"/>
          </a:p>
          <a:p>
            <a:r>
              <a:rPr lang="en-US" dirty="0"/>
              <a:t>GROUP BY </a:t>
            </a:r>
            <a:r>
              <a:rPr lang="en-US" dirty="0" err="1"/>
              <a:t>Month_Name</a:t>
            </a:r>
            <a:endParaRPr lang="en-US" dirty="0"/>
          </a:p>
          <a:p>
            <a:r>
              <a:rPr lang="en-US" dirty="0"/>
              <a:t>ORDER BY </a:t>
            </a:r>
            <a:r>
              <a:rPr lang="en-US" dirty="0" err="1"/>
              <a:t>Total_Revenue</a:t>
            </a:r>
            <a:r>
              <a:rPr lang="en-US" dirty="0"/>
              <a:t> DESC</a:t>
            </a:r>
          </a:p>
          <a:p>
            <a:r>
              <a:rPr lang="en-US" dirty="0"/>
              <a:t>LIMIT 1;</a:t>
            </a:r>
          </a:p>
          <a:p>
            <a:endParaRPr lang="en-US" dirty="0"/>
          </a:p>
        </p:txBody>
      </p:sp>
      <p:pic>
        <p:nvPicPr>
          <p:cNvPr id="4" name="Picture 3">
            <a:extLst>
              <a:ext uri="{FF2B5EF4-FFF2-40B4-BE49-F238E27FC236}">
                <a16:creationId xmlns:a16="http://schemas.microsoft.com/office/drawing/2014/main" id="{EB270458-E41E-9373-07A0-C19AAD3177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4179" y="2138289"/>
            <a:ext cx="3052690" cy="1885071"/>
          </a:xfrm>
          <a:prstGeom prst="rect">
            <a:avLst/>
          </a:prstGeom>
        </p:spPr>
      </p:pic>
    </p:spTree>
    <p:extLst>
      <p:ext uri="{BB962C8B-B14F-4D97-AF65-F5344CB8AC3E}">
        <p14:creationId xmlns:p14="http://schemas.microsoft.com/office/powerpoint/2010/main" val="1767088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674F-6827-F446-31F9-7DE2DED36579}"/>
              </a:ext>
            </a:extLst>
          </p:cNvPr>
          <p:cNvSpPr>
            <a:spLocks noGrp="1"/>
          </p:cNvSpPr>
          <p:nvPr>
            <p:ph type="title"/>
          </p:nvPr>
        </p:nvSpPr>
        <p:spPr/>
        <p:txBody>
          <a:bodyPr/>
          <a:lstStyle/>
          <a:p>
            <a:r>
              <a:rPr lang="en-US" dirty="0">
                <a:highlight>
                  <a:srgbClr val="00FFFF"/>
                </a:highlight>
              </a:rPr>
              <a:t>Month performed  worst</a:t>
            </a:r>
          </a:p>
        </p:txBody>
      </p:sp>
      <p:sp>
        <p:nvSpPr>
          <p:cNvPr id="3" name="Content Placeholder 2">
            <a:extLst>
              <a:ext uri="{FF2B5EF4-FFF2-40B4-BE49-F238E27FC236}">
                <a16:creationId xmlns:a16="http://schemas.microsoft.com/office/drawing/2014/main" id="{7A81C436-0078-9A40-19CE-0B66F71AB594}"/>
              </a:ext>
            </a:extLst>
          </p:cNvPr>
          <p:cNvSpPr>
            <a:spLocks noGrp="1"/>
          </p:cNvSpPr>
          <p:nvPr>
            <p:ph idx="1"/>
          </p:nvPr>
        </p:nvSpPr>
        <p:spPr/>
        <p:txBody>
          <a:bodyPr/>
          <a:lstStyle/>
          <a:p>
            <a:r>
              <a:rPr lang="en-US" sz="1400" dirty="0"/>
              <a:t>SELECT</a:t>
            </a:r>
          </a:p>
          <a:p>
            <a:r>
              <a:rPr lang="en-US" sz="1400" dirty="0"/>
              <a:t>SUM(</a:t>
            </a:r>
            <a:r>
              <a:rPr lang="en-US" sz="1400" dirty="0" err="1"/>
              <a:t>total_price</a:t>
            </a:r>
            <a:r>
              <a:rPr lang="en-US" sz="1400" dirty="0"/>
              <a:t>) AS </a:t>
            </a:r>
            <a:r>
              <a:rPr lang="en-US" sz="1400" dirty="0" err="1"/>
              <a:t>Total_Revenue</a:t>
            </a:r>
            <a:r>
              <a:rPr lang="en-US" sz="1400" dirty="0"/>
              <a:t>,</a:t>
            </a:r>
          </a:p>
          <a:p>
            <a:r>
              <a:rPr lang="en-US" sz="1400" dirty="0"/>
              <a:t>MONTHNAME(</a:t>
            </a:r>
            <a:r>
              <a:rPr lang="en-US" sz="1400" dirty="0" err="1"/>
              <a:t>order_date</a:t>
            </a:r>
            <a:r>
              <a:rPr lang="en-US" sz="1400" dirty="0"/>
              <a:t>) AS </a:t>
            </a:r>
            <a:r>
              <a:rPr lang="en-US" sz="1400" dirty="0" err="1"/>
              <a:t>Month_Name</a:t>
            </a:r>
            <a:endParaRPr lang="en-US" sz="1400" dirty="0"/>
          </a:p>
          <a:p>
            <a:r>
              <a:rPr lang="en-US" sz="1400" dirty="0"/>
              <a:t>FROM </a:t>
            </a:r>
            <a:r>
              <a:rPr lang="en-US" sz="1400" dirty="0" err="1"/>
              <a:t>delicious_pizza_analytics_table</a:t>
            </a:r>
            <a:endParaRPr lang="en-US" sz="1400" dirty="0"/>
          </a:p>
          <a:p>
            <a:r>
              <a:rPr lang="en-US" sz="1400" dirty="0"/>
              <a:t>GROUP BY </a:t>
            </a:r>
            <a:r>
              <a:rPr lang="en-US" sz="1400" dirty="0" err="1"/>
              <a:t>Month_Name</a:t>
            </a:r>
            <a:endParaRPr lang="en-US" sz="1400" dirty="0"/>
          </a:p>
          <a:p>
            <a:r>
              <a:rPr lang="en-US" sz="1400" dirty="0"/>
              <a:t>ORDER BY </a:t>
            </a:r>
            <a:r>
              <a:rPr lang="en-US" sz="1400" dirty="0" err="1"/>
              <a:t>Total_Revenue</a:t>
            </a:r>
            <a:r>
              <a:rPr lang="en-US" sz="1400" dirty="0"/>
              <a:t> </a:t>
            </a:r>
          </a:p>
          <a:p>
            <a:r>
              <a:rPr lang="en-US" sz="1400" dirty="0"/>
              <a:t>LIMIT 1;</a:t>
            </a:r>
          </a:p>
          <a:p>
            <a:endParaRPr lang="en-US" dirty="0"/>
          </a:p>
        </p:txBody>
      </p:sp>
      <p:pic>
        <p:nvPicPr>
          <p:cNvPr id="4" name="Picture 3">
            <a:extLst>
              <a:ext uri="{FF2B5EF4-FFF2-40B4-BE49-F238E27FC236}">
                <a16:creationId xmlns:a16="http://schemas.microsoft.com/office/drawing/2014/main" id="{CA7C51CD-5D44-C2A4-D183-F17717130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806" y="4350728"/>
            <a:ext cx="2954215" cy="1826235"/>
          </a:xfrm>
          <a:prstGeom prst="rect">
            <a:avLst/>
          </a:prstGeom>
        </p:spPr>
      </p:pic>
    </p:spTree>
    <p:extLst>
      <p:ext uri="{BB962C8B-B14F-4D97-AF65-F5344CB8AC3E}">
        <p14:creationId xmlns:p14="http://schemas.microsoft.com/office/powerpoint/2010/main" val="399037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73506-7A43-0CE4-941A-4C6296977642}"/>
              </a:ext>
            </a:extLst>
          </p:cNvPr>
          <p:cNvSpPr>
            <a:spLocks noGrp="1"/>
          </p:cNvSpPr>
          <p:nvPr>
            <p:ph type="title"/>
          </p:nvPr>
        </p:nvSpPr>
        <p:spPr/>
        <p:txBody>
          <a:bodyPr/>
          <a:lstStyle/>
          <a:p>
            <a:r>
              <a:rPr lang="en-US" dirty="0">
                <a:highlight>
                  <a:srgbClr val="00FFFF"/>
                </a:highlight>
              </a:rPr>
              <a:t>Day of the week generates the highest number of orders</a:t>
            </a:r>
          </a:p>
        </p:txBody>
      </p:sp>
      <p:sp>
        <p:nvSpPr>
          <p:cNvPr id="3" name="Content Placeholder 2">
            <a:extLst>
              <a:ext uri="{FF2B5EF4-FFF2-40B4-BE49-F238E27FC236}">
                <a16:creationId xmlns:a16="http://schemas.microsoft.com/office/drawing/2014/main" id="{C6018698-5BB9-9D2D-3485-489FFF4DA562}"/>
              </a:ext>
            </a:extLst>
          </p:cNvPr>
          <p:cNvSpPr>
            <a:spLocks noGrp="1"/>
          </p:cNvSpPr>
          <p:nvPr>
            <p:ph idx="1"/>
          </p:nvPr>
        </p:nvSpPr>
        <p:spPr/>
        <p:txBody>
          <a:bodyPr/>
          <a:lstStyle/>
          <a:p>
            <a:r>
              <a:rPr lang="en-US" sz="1600" dirty="0"/>
              <a:t>SELECT</a:t>
            </a:r>
          </a:p>
          <a:p>
            <a:r>
              <a:rPr lang="en-US" sz="1600" dirty="0"/>
              <a:t>SUM(</a:t>
            </a:r>
            <a:r>
              <a:rPr lang="en-US" sz="1600" dirty="0" err="1"/>
              <a:t>total_price</a:t>
            </a:r>
            <a:r>
              <a:rPr lang="en-US" sz="1600" dirty="0"/>
              <a:t>) AS </a:t>
            </a:r>
            <a:r>
              <a:rPr lang="en-US" sz="1600" dirty="0" err="1"/>
              <a:t>Total_Revenue</a:t>
            </a:r>
            <a:r>
              <a:rPr lang="en-US" sz="1600" dirty="0"/>
              <a:t>,</a:t>
            </a:r>
          </a:p>
          <a:p>
            <a:r>
              <a:rPr lang="en-US" sz="1600" dirty="0"/>
              <a:t>DAYNAME(</a:t>
            </a:r>
            <a:r>
              <a:rPr lang="en-US" sz="1600" dirty="0" err="1"/>
              <a:t>order_date</a:t>
            </a:r>
            <a:r>
              <a:rPr lang="en-US" sz="1600" dirty="0"/>
              <a:t>) AS </a:t>
            </a:r>
            <a:r>
              <a:rPr lang="en-US" sz="1600" dirty="0" err="1"/>
              <a:t>Day_Name</a:t>
            </a:r>
            <a:endParaRPr lang="en-US" sz="1600" dirty="0"/>
          </a:p>
          <a:p>
            <a:r>
              <a:rPr lang="en-US" sz="1600" dirty="0"/>
              <a:t>FROM </a:t>
            </a:r>
            <a:r>
              <a:rPr lang="en-US" sz="1600" dirty="0" err="1"/>
              <a:t>delicious_pizza_analytics_table</a:t>
            </a:r>
            <a:endParaRPr lang="en-US" sz="1600" dirty="0"/>
          </a:p>
          <a:p>
            <a:r>
              <a:rPr lang="en-US" sz="1600" dirty="0"/>
              <a:t>GROUP BY </a:t>
            </a:r>
            <a:r>
              <a:rPr lang="en-US" sz="1600" dirty="0" err="1"/>
              <a:t>Day_Name</a:t>
            </a:r>
            <a:endParaRPr lang="en-US" sz="1600" dirty="0"/>
          </a:p>
          <a:p>
            <a:r>
              <a:rPr lang="en-US" sz="1600" dirty="0"/>
              <a:t>ORDER BY </a:t>
            </a:r>
            <a:r>
              <a:rPr lang="en-US" sz="1600" dirty="0" err="1"/>
              <a:t>Total_Revenue</a:t>
            </a:r>
            <a:r>
              <a:rPr lang="en-US" sz="1600" dirty="0"/>
              <a:t> DESC</a:t>
            </a:r>
          </a:p>
          <a:p>
            <a:r>
              <a:rPr lang="en-US" sz="1600" dirty="0"/>
              <a:t>LIMIT 1; </a:t>
            </a:r>
          </a:p>
          <a:p>
            <a:endParaRPr lang="en-US" dirty="0"/>
          </a:p>
        </p:txBody>
      </p:sp>
      <p:pic>
        <p:nvPicPr>
          <p:cNvPr id="4" name="Picture 3">
            <a:extLst>
              <a:ext uri="{FF2B5EF4-FFF2-40B4-BE49-F238E27FC236}">
                <a16:creationId xmlns:a16="http://schemas.microsoft.com/office/drawing/2014/main" id="{1AE195C3-6B8B-7291-9434-E191C6BD36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445392"/>
            <a:ext cx="3249929" cy="1731571"/>
          </a:xfrm>
          <a:prstGeom prst="rect">
            <a:avLst/>
          </a:prstGeom>
        </p:spPr>
      </p:pic>
    </p:spTree>
    <p:extLst>
      <p:ext uri="{BB962C8B-B14F-4D97-AF65-F5344CB8AC3E}">
        <p14:creationId xmlns:p14="http://schemas.microsoft.com/office/powerpoint/2010/main" val="291815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EE9F1-0C8F-83FE-9D58-79A07CE11AA6}"/>
              </a:ext>
            </a:extLst>
          </p:cNvPr>
          <p:cNvSpPr>
            <a:spLocks noGrp="1"/>
          </p:cNvSpPr>
          <p:nvPr>
            <p:ph type="title"/>
          </p:nvPr>
        </p:nvSpPr>
        <p:spPr/>
        <p:txBody>
          <a:bodyPr/>
          <a:lstStyle/>
          <a:p>
            <a:r>
              <a:rPr lang="en-US" dirty="0">
                <a:highlight>
                  <a:srgbClr val="00FFFF"/>
                </a:highlight>
              </a:rPr>
              <a:t>Day of the week that generates the lowest number of orders</a:t>
            </a:r>
          </a:p>
        </p:txBody>
      </p:sp>
      <p:sp>
        <p:nvSpPr>
          <p:cNvPr id="3" name="Content Placeholder 2">
            <a:extLst>
              <a:ext uri="{FF2B5EF4-FFF2-40B4-BE49-F238E27FC236}">
                <a16:creationId xmlns:a16="http://schemas.microsoft.com/office/drawing/2014/main" id="{BC1C2FA3-89BA-B91C-008F-57E4A4819DEF}"/>
              </a:ext>
            </a:extLst>
          </p:cNvPr>
          <p:cNvSpPr>
            <a:spLocks noGrp="1"/>
          </p:cNvSpPr>
          <p:nvPr>
            <p:ph idx="1"/>
          </p:nvPr>
        </p:nvSpPr>
        <p:spPr/>
        <p:txBody>
          <a:bodyPr/>
          <a:lstStyle/>
          <a:p>
            <a:r>
              <a:rPr lang="en-US" sz="1800" dirty="0"/>
              <a:t>SELECT</a:t>
            </a:r>
          </a:p>
          <a:p>
            <a:r>
              <a:rPr lang="en-US" sz="1800" dirty="0"/>
              <a:t>SUM(</a:t>
            </a:r>
            <a:r>
              <a:rPr lang="en-US" sz="1800" dirty="0" err="1"/>
              <a:t>total_price</a:t>
            </a:r>
            <a:r>
              <a:rPr lang="en-US" sz="1800" dirty="0"/>
              <a:t>) AS </a:t>
            </a:r>
            <a:r>
              <a:rPr lang="en-US" sz="1800" dirty="0" err="1"/>
              <a:t>Total_Revenue</a:t>
            </a:r>
            <a:r>
              <a:rPr lang="en-US" sz="1800" dirty="0"/>
              <a:t>,</a:t>
            </a:r>
          </a:p>
          <a:p>
            <a:r>
              <a:rPr lang="en-US" sz="1800" dirty="0"/>
              <a:t>DAYNAME(</a:t>
            </a:r>
            <a:r>
              <a:rPr lang="en-US" sz="1800" dirty="0" err="1"/>
              <a:t>order_date</a:t>
            </a:r>
            <a:r>
              <a:rPr lang="en-US" sz="1800" dirty="0"/>
              <a:t>) AS </a:t>
            </a:r>
            <a:r>
              <a:rPr lang="en-US" sz="1800" dirty="0" err="1"/>
              <a:t>Day_Name</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Day_Name</a:t>
            </a:r>
            <a:endParaRPr lang="en-US" sz="1800" dirty="0"/>
          </a:p>
          <a:p>
            <a:r>
              <a:rPr lang="en-US" sz="1800" dirty="0"/>
              <a:t>ORDER BY </a:t>
            </a:r>
            <a:r>
              <a:rPr lang="en-US" sz="1800" dirty="0" err="1"/>
              <a:t>Total_Revenue</a:t>
            </a:r>
            <a:endParaRPr lang="en-US" sz="1800" dirty="0"/>
          </a:p>
          <a:p>
            <a:r>
              <a:rPr lang="en-US" sz="1800" dirty="0"/>
              <a:t>LIMIT 1;</a:t>
            </a:r>
          </a:p>
          <a:p>
            <a:endParaRPr lang="en-US" dirty="0"/>
          </a:p>
        </p:txBody>
      </p:sp>
      <p:pic>
        <p:nvPicPr>
          <p:cNvPr id="4" name="Picture 3">
            <a:extLst>
              <a:ext uri="{FF2B5EF4-FFF2-40B4-BE49-F238E27FC236}">
                <a16:creationId xmlns:a16="http://schemas.microsoft.com/office/drawing/2014/main" id="{4B75AAE8-FDD2-D88B-F128-BAC45242D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565" y="4445391"/>
            <a:ext cx="2659967" cy="1506489"/>
          </a:xfrm>
          <a:prstGeom prst="rect">
            <a:avLst/>
          </a:prstGeom>
        </p:spPr>
      </p:pic>
    </p:spTree>
    <p:extLst>
      <p:ext uri="{BB962C8B-B14F-4D97-AF65-F5344CB8AC3E}">
        <p14:creationId xmlns:p14="http://schemas.microsoft.com/office/powerpoint/2010/main" val="48855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6C4D-E385-4C22-02BB-54FC74B10BD6}"/>
              </a:ext>
            </a:extLst>
          </p:cNvPr>
          <p:cNvSpPr>
            <a:spLocks noGrp="1"/>
          </p:cNvSpPr>
          <p:nvPr>
            <p:ph type="title"/>
          </p:nvPr>
        </p:nvSpPr>
        <p:spPr/>
        <p:txBody>
          <a:bodyPr/>
          <a:lstStyle/>
          <a:p>
            <a:r>
              <a:rPr lang="en-US" dirty="0">
                <a:highlight>
                  <a:srgbClr val="00FFFF"/>
                </a:highlight>
              </a:rPr>
              <a:t>The hour of the day with the most orders placed</a:t>
            </a:r>
          </a:p>
        </p:txBody>
      </p:sp>
      <p:sp>
        <p:nvSpPr>
          <p:cNvPr id="3" name="Content Placeholder 2">
            <a:extLst>
              <a:ext uri="{FF2B5EF4-FFF2-40B4-BE49-F238E27FC236}">
                <a16:creationId xmlns:a16="http://schemas.microsoft.com/office/drawing/2014/main" id="{45AED2DE-D833-CE3B-832F-F5969EE61CF1}"/>
              </a:ext>
            </a:extLst>
          </p:cNvPr>
          <p:cNvSpPr>
            <a:spLocks noGrp="1"/>
          </p:cNvSpPr>
          <p:nvPr>
            <p:ph idx="1"/>
          </p:nvPr>
        </p:nvSpPr>
        <p:spPr/>
        <p:txBody>
          <a:bodyPr/>
          <a:lstStyle/>
          <a:p>
            <a:r>
              <a:rPr lang="en-US" sz="1800" dirty="0"/>
              <a:t>SELECT</a:t>
            </a:r>
          </a:p>
          <a:p>
            <a:r>
              <a:rPr lang="en-US" sz="1800" dirty="0"/>
              <a:t>HOUR(</a:t>
            </a:r>
            <a:r>
              <a:rPr lang="en-US" sz="1800" dirty="0" err="1"/>
              <a:t>order_time</a:t>
            </a:r>
            <a:r>
              <a:rPr lang="en-US" sz="1800" dirty="0"/>
              <a:t>) AS </a:t>
            </a:r>
            <a:r>
              <a:rPr lang="en-US" sz="1800" dirty="0" err="1"/>
              <a:t>Hour_Name</a:t>
            </a:r>
            <a:r>
              <a:rPr lang="en-US" sz="1800" dirty="0"/>
              <a:t>,</a:t>
            </a:r>
          </a:p>
          <a:p>
            <a:r>
              <a:rPr lang="en-US" sz="1800" dirty="0"/>
              <a:t>SUM(</a:t>
            </a:r>
            <a:r>
              <a:rPr lang="en-US" sz="1800" dirty="0" err="1"/>
              <a:t>total_price</a:t>
            </a:r>
            <a:r>
              <a:rPr lang="en-US" sz="1800" dirty="0"/>
              <a:t>) AS </a:t>
            </a:r>
            <a:r>
              <a:rPr lang="en-US" sz="1800" dirty="0" err="1"/>
              <a:t>Total_Hour_Revenue</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Hour_Name</a:t>
            </a:r>
            <a:endParaRPr lang="en-US" sz="1800" dirty="0"/>
          </a:p>
          <a:p>
            <a:r>
              <a:rPr lang="en-US" sz="1800" dirty="0"/>
              <a:t>ORDER BY </a:t>
            </a:r>
            <a:r>
              <a:rPr lang="en-US" sz="1800" dirty="0" err="1"/>
              <a:t>Total_Hour_Revenue</a:t>
            </a:r>
            <a:r>
              <a:rPr lang="en-US" sz="1800" dirty="0"/>
              <a:t> DESC</a:t>
            </a:r>
          </a:p>
          <a:p>
            <a:r>
              <a:rPr lang="en-US" sz="1800" dirty="0"/>
              <a:t>LIMIT 1;</a:t>
            </a:r>
          </a:p>
          <a:p>
            <a:endParaRPr lang="en-US" dirty="0"/>
          </a:p>
        </p:txBody>
      </p:sp>
      <p:pic>
        <p:nvPicPr>
          <p:cNvPr id="4" name="Picture 3">
            <a:extLst>
              <a:ext uri="{FF2B5EF4-FFF2-40B4-BE49-F238E27FC236}">
                <a16:creationId xmlns:a16="http://schemas.microsoft.com/office/drawing/2014/main" id="{BEA583C9-197D-778A-8B8C-82695290F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604" y="4473526"/>
            <a:ext cx="2929011" cy="1463039"/>
          </a:xfrm>
          <a:prstGeom prst="rect">
            <a:avLst/>
          </a:prstGeom>
        </p:spPr>
      </p:pic>
    </p:spTree>
    <p:extLst>
      <p:ext uri="{BB962C8B-B14F-4D97-AF65-F5344CB8AC3E}">
        <p14:creationId xmlns:p14="http://schemas.microsoft.com/office/powerpoint/2010/main" val="2329783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C8523-AC00-F01E-DB6A-3D6FD6150911}"/>
              </a:ext>
            </a:extLst>
          </p:cNvPr>
          <p:cNvSpPr>
            <a:spLocks noGrp="1"/>
          </p:cNvSpPr>
          <p:nvPr>
            <p:ph type="title"/>
          </p:nvPr>
        </p:nvSpPr>
        <p:spPr/>
        <p:txBody>
          <a:bodyPr>
            <a:normAutofit fontScale="90000"/>
          </a:bodyPr>
          <a:lstStyle/>
          <a:p>
            <a:r>
              <a:rPr lang="en-US" dirty="0">
                <a:highlight>
                  <a:srgbClr val="00FFFF"/>
                </a:highlight>
              </a:rPr>
              <a:t>Plot or describe the distribution across the day.</a:t>
            </a:r>
            <a:br>
              <a:rPr lang="en-US" dirty="0"/>
            </a:br>
            <a:endParaRPr lang="en-US" dirty="0"/>
          </a:p>
        </p:txBody>
      </p:sp>
      <p:sp>
        <p:nvSpPr>
          <p:cNvPr id="3" name="Content Placeholder 2">
            <a:extLst>
              <a:ext uri="{FF2B5EF4-FFF2-40B4-BE49-F238E27FC236}">
                <a16:creationId xmlns:a16="http://schemas.microsoft.com/office/drawing/2014/main" id="{78B8249D-6782-654E-8219-17E351E569A9}"/>
              </a:ext>
            </a:extLst>
          </p:cNvPr>
          <p:cNvSpPr>
            <a:spLocks noGrp="1"/>
          </p:cNvSpPr>
          <p:nvPr>
            <p:ph idx="1"/>
          </p:nvPr>
        </p:nvSpPr>
        <p:spPr/>
        <p:txBody>
          <a:bodyPr/>
          <a:lstStyle/>
          <a:p>
            <a:r>
              <a:rPr lang="en-US" sz="1800" dirty="0"/>
              <a:t>SELECT</a:t>
            </a:r>
          </a:p>
          <a:p>
            <a:r>
              <a:rPr lang="en-US" sz="1800" dirty="0"/>
              <a:t>SUM(</a:t>
            </a:r>
            <a:r>
              <a:rPr lang="en-US" sz="1800" dirty="0" err="1"/>
              <a:t>total_price</a:t>
            </a:r>
            <a:r>
              <a:rPr lang="en-US" sz="1800" dirty="0"/>
              <a:t>) </a:t>
            </a:r>
            <a:r>
              <a:rPr lang="en-US" sz="1800" dirty="0" err="1"/>
              <a:t>Total_Revenue</a:t>
            </a:r>
            <a:r>
              <a:rPr lang="en-US" sz="1800" dirty="0"/>
              <a:t>,</a:t>
            </a:r>
          </a:p>
          <a:p>
            <a:r>
              <a:rPr lang="en-US" sz="1800" dirty="0"/>
              <a:t>COUNT(DISTINCT </a:t>
            </a:r>
            <a:r>
              <a:rPr lang="en-US" sz="1800" dirty="0" err="1"/>
              <a:t>order_id</a:t>
            </a:r>
            <a:r>
              <a:rPr lang="en-US" sz="1800" dirty="0"/>
              <a:t>) AS </a:t>
            </a:r>
            <a:r>
              <a:rPr lang="en-US" sz="1800" dirty="0" err="1"/>
              <a:t>Total_Orders</a:t>
            </a:r>
            <a:r>
              <a:rPr lang="en-US" sz="1800" dirty="0"/>
              <a:t>,</a:t>
            </a:r>
          </a:p>
          <a:p>
            <a:r>
              <a:rPr lang="en-US" sz="1800" dirty="0"/>
              <a:t>HOUR(</a:t>
            </a:r>
            <a:r>
              <a:rPr lang="en-US" sz="1800" dirty="0" err="1"/>
              <a:t>order_time</a:t>
            </a:r>
            <a:r>
              <a:rPr lang="en-US" sz="1800" dirty="0"/>
              <a:t>) </a:t>
            </a:r>
            <a:r>
              <a:rPr lang="en-US" sz="1800" dirty="0" err="1"/>
              <a:t>Hour_of_Day</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Hour_of_Day</a:t>
            </a:r>
            <a:endParaRPr lang="en-US" sz="1800" dirty="0"/>
          </a:p>
          <a:p>
            <a:r>
              <a:rPr lang="en-US" sz="1800" dirty="0"/>
              <a:t>ORDER BY </a:t>
            </a:r>
            <a:r>
              <a:rPr lang="en-US" sz="1800" dirty="0" err="1"/>
              <a:t>Total_Revenue</a:t>
            </a:r>
            <a:r>
              <a:rPr lang="en-US" sz="1800" dirty="0"/>
              <a:t> DESC;</a:t>
            </a:r>
          </a:p>
          <a:p>
            <a:endParaRPr lang="en-US" dirty="0"/>
          </a:p>
        </p:txBody>
      </p:sp>
      <p:pic>
        <p:nvPicPr>
          <p:cNvPr id="4" name="Picture 3">
            <a:extLst>
              <a:ext uri="{FF2B5EF4-FFF2-40B4-BE49-F238E27FC236}">
                <a16:creationId xmlns:a16="http://schemas.microsoft.com/office/drawing/2014/main" id="{1A99184C-32A0-89C9-487E-9E2162025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2931" y="2109189"/>
            <a:ext cx="3176661" cy="3784209"/>
          </a:xfrm>
          <a:prstGeom prst="rect">
            <a:avLst/>
          </a:prstGeom>
        </p:spPr>
      </p:pic>
    </p:spTree>
    <p:extLst>
      <p:ext uri="{BB962C8B-B14F-4D97-AF65-F5344CB8AC3E}">
        <p14:creationId xmlns:p14="http://schemas.microsoft.com/office/powerpoint/2010/main" val="180057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B556F-3D70-D989-A224-BB6DDA680533}"/>
              </a:ext>
            </a:extLst>
          </p:cNvPr>
          <p:cNvSpPr>
            <a:spLocks noGrp="1"/>
          </p:cNvSpPr>
          <p:nvPr>
            <p:ph type="title"/>
          </p:nvPr>
        </p:nvSpPr>
        <p:spPr/>
        <p:txBody>
          <a:bodyPr/>
          <a:lstStyle/>
          <a:p>
            <a:r>
              <a:rPr lang="en-US" b="1" dirty="0">
                <a:highlight>
                  <a:srgbClr val="000080"/>
                </a:highlight>
              </a:rPr>
              <a:t>Sales Trends Over Time Summary</a:t>
            </a:r>
            <a:r>
              <a:rPr lang="en-US" b="1" u="sng" dirty="0">
                <a:highlight>
                  <a:srgbClr val="000080"/>
                </a:highlight>
              </a:rPr>
              <a:t> </a:t>
            </a:r>
            <a:br>
              <a:rPr lang="en-US" dirty="0"/>
            </a:br>
            <a:endParaRPr lang="en-US" dirty="0"/>
          </a:p>
        </p:txBody>
      </p:sp>
      <p:sp>
        <p:nvSpPr>
          <p:cNvPr id="3" name="Content Placeholder 2">
            <a:extLst>
              <a:ext uri="{FF2B5EF4-FFF2-40B4-BE49-F238E27FC236}">
                <a16:creationId xmlns:a16="http://schemas.microsoft.com/office/drawing/2014/main" id="{D0FF2802-0120-B608-0433-09B6ADABD368}"/>
              </a:ext>
            </a:extLst>
          </p:cNvPr>
          <p:cNvSpPr>
            <a:spLocks noGrp="1"/>
          </p:cNvSpPr>
          <p:nvPr>
            <p:ph idx="1"/>
          </p:nvPr>
        </p:nvSpPr>
        <p:spPr/>
        <p:txBody>
          <a:bodyPr>
            <a:normAutofit fontScale="85000" lnSpcReduction="20000"/>
          </a:bodyPr>
          <a:lstStyle/>
          <a:p>
            <a:r>
              <a:rPr lang="en-US" dirty="0"/>
              <a:t>Delicious Pizza demonstrates relatively </a:t>
            </a:r>
            <a:r>
              <a:rPr lang="en-US" b="1" dirty="0"/>
              <a:t>stable monthly revenue performance</a:t>
            </a:r>
            <a:r>
              <a:rPr lang="en-US" dirty="0"/>
              <a:t>, with July recording the highest monthly revenue at </a:t>
            </a:r>
            <a:r>
              <a:rPr lang="en-US" b="1" dirty="0"/>
              <a:t>$72,557.90</a:t>
            </a:r>
            <a:r>
              <a:rPr lang="en-US" dirty="0"/>
              <a:t> and October registering the lowest at </a:t>
            </a:r>
            <a:r>
              <a:rPr lang="en-US" b="1" dirty="0"/>
              <a:t>$64,027.60</a:t>
            </a:r>
            <a:r>
              <a:rPr lang="en-US" dirty="0"/>
              <a:t>. The variance between the two is approximately </a:t>
            </a:r>
            <a:r>
              <a:rPr lang="en-US" b="1" dirty="0"/>
              <a:t>13%</a:t>
            </a:r>
            <a:r>
              <a:rPr lang="en-US" dirty="0"/>
              <a:t>, which reflects a healthy revenue floor rather than an alarming gap. That said, October consistently underperforms and warrants attention targeted promotions, limited time offers, or seasonal menu additions during that month could close the gap and push October closer to the annual average.</a:t>
            </a:r>
          </a:p>
          <a:p>
            <a:r>
              <a:rPr lang="en-US" dirty="0"/>
              <a:t>At the weekly level, </a:t>
            </a:r>
            <a:r>
              <a:rPr lang="en-US" b="1" dirty="0"/>
              <a:t>Friday is the strongest revenue day at $136,073.90</a:t>
            </a:r>
            <a:r>
              <a:rPr lang="en-US" dirty="0"/>
              <a:t>, driven by predictable end-of-week behavior including social gatherings, family meals, and customers treating themselves after the work week. </a:t>
            </a:r>
            <a:r>
              <a:rPr lang="en-US" b="1" dirty="0"/>
              <a:t>Sunday generates the least revenue at $99,203.50</a:t>
            </a:r>
            <a:r>
              <a:rPr lang="en-US" dirty="0"/>
              <a:t>, likely because it lacks the social triggers that drive Friday demand  people tend to have quieter, more routine Sundays with less motivation for celebratory meals. Rather than accepting Sunday as a weak day, the business could introduce a Sunday family bundle or discount offer to stimulate demand on an otherwise slow day.</a:t>
            </a:r>
          </a:p>
          <a:p>
            <a:endParaRPr lang="en-US" dirty="0"/>
          </a:p>
        </p:txBody>
      </p:sp>
    </p:spTree>
    <p:extLst>
      <p:ext uri="{BB962C8B-B14F-4D97-AF65-F5344CB8AC3E}">
        <p14:creationId xmlns:p14="http://schemas.microsoft.com/office/powerpoint/2010/main" val="958169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4DE97-F19C-774E-DA96-C31C10FDAECE}"/>
              </a:ext>
            </a:extLst>
          </p:cNvPr>
          <p:cNvSpPr>
            <a:spLocks noGrp="1"/>
          </p:cNvSpPr>
          <p:nvPr>
            <p:ph type="title"/>
          </p:nvPr>
        </p:nvSpPr>
        <p:spPr/>
        <p:txBody>
          <a:bodyPr/>
          <a:lstStyle/>
          <a:p>
            <a:r>
              <a:rPr lang="en-US" dirty="0">
                <a:highlight>
                  <a:srgbClr val="000080"/>
                </a:highlight>
              </a:rPr>
              <a:t>Pizza Performance</a:t>
            </a:r>
            <a:br>
              <a:rPr lang="en-US" dirty="0">
                <a:highlight>
                  <a:srgbClr val="000080"/>
                </a:highlight>
              </a:rPr>
            </a:br>
            <a:endParaRPr lang="en-US" dirty="0">
              <a:highlight>
                <a:srgbClr val="000080"/>
              </a:highlight>
            </a:endParaRPr>
          </a:p>
        </p:txBody>
      </p:sp>
      <p:sp>
        <p:nvSpPr>
          <p:cNvPr id="3" name="Content Placeholder 2">
            <a:extLst>
              <a:ext uri="{FF2B5EF4-FFF2-40B4-BE49-F238E27FC236}">
                <a16:creationId xmlns:a16="http://schemas.microsoft.com/office/drawing/2014/main" id="{FC51F5D9-4943-9E6C-CA83-9F72CDECF178}"/>
              </a:ext>
            </a:extLst>
          </p:cNvPr>
          <p:cNvSpPr>
            <a:spLocks noGrp="1"/>
          </p:cNvSpPr>
          <p:nvPr>
            <p:ph idx="1"/>
          </p:nvPr>
        </p:nvSpPr>
        <p:spPr/>
        <p:txBody>
          <a:bodyPr/>
          <a:lstStyle/>
          <a:p>
            <a:r>
              <a:rPr lang="en-US" dirty="0">
                <a:highlight>
                  <a:srgbClr val="00FFFF"/>
                </a:highlight>
              </a:rPr>
              <a:t>The top 5 best-selling pizzas by quantity sold</a:t>
            </a:r>
          </a:p>
          <a:p>
            <a:r>
              <a:rPr lang="en-US" sz="1800" dirty="0"/>
              <a:t>SELECT</a:t>
            </a:r>
          </a:p>
          <a:p>
            <a:r>
              <a:rPr lang="en-US" sz="1800" dirty="0"/>
              <a:t>SUM(quantity) AS </a:t>
            </a:r>
            <a:r>
              <a:rPr lang="en-US" sz="1800" dirty="0" err="1"/>
              <a:t>Quantity_Sold</a:t>
            </a:r>
            <a:r>
              <a:rPr lang="en-US" sz="1800" dirty="0"/>
              <a:t>,</a:t>
            </a:r>
          </a:p>
          <a:p>
            <a:r>
              <a:rPr lang="en-US" sz="1800" dirty="0" err="1"/>
              <a:t>pizza_name</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pizza_name</a:t>
            </a:r>
            <a:endParaRPr lang="en-US" sz="1800" dirty="0"/>
          </a:p>
          <a:p>
            <a:r>
              <a:rPr lang="en-US" sz="1800" dirty="0"/>
              <a:t>ORDER BY </a:t>
            </a:r>
            <a:r>
              <a:rPr lang="en-US" sz="1800" dirty="0" err="1"/>
              <a:t>Quantity_Sold</a:t>
            </a:r>
            <a:r>
              <a:rPr lang="en-US" sz="1800" dirty="0"/>
              <a:t> DESC</a:t>
            </a:r>
          </a:p>
          <a:p>
            <a:r>
              <a:rPr lang="en-US" sz="1800" dirty="0"/>
              <a:t>LIMIT 5;</a:t>
            </a:r>
          </a:p>
          <a:p>
            <a:endParaRPr lang="en-US" dirty="0">
              <a:highlight>
                <a:srgbClr val="00FFFF"/>
              </a:highlight>
            </a:endParaRPr>
          </a:p>
        </p:txBody>
      </p:sp>
      <p:pic>
        <p:nvPicPr>
          <p:cNvPr id="4" name="Picture 3">
            <a:extLst>
              <a:ext uri="{FF2B5EF4-FFF2-40B4-BE49-F238E27FC236}">
                <a16:creationId xmlns:a16="http://schemas.microsoft.com/office/drawing/2014/main" id="{50401FDC-F7D3-B54F-EADB-15E726730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735" y="2841868"/>
            <a:ext cx="2889739" cy="2109959"/>
          </a:xfrm>
          <a:prstGeom prst="rect">
            <a:avLst/>
          </a:prstGeom>
        </p:spPr>
      </p:pic>
    </p:spTree>
    <p:extLst>
      <p:ext uri="{BB962C8B-B14F-4D97-AF65-F5344CB8AC3E}">
        <p14:creationId xmlns:p14="http://schemas.microsoft.com/office/powerpoint/2010/main" val="3808877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EFA1F-35F8-D488-250E-FB2C8D257ABB}"/>
              </a:ext>
            </a:extLst>
          </p:cNvPr>
          <p:cNvSpPr>
            <a:spLocks noGrp="1"/>
          </p:cNvSpPr>
          <p:nvPr>
            <p:ph type="title"/>
          </p:nvPr>
        </p:nvSpPr>
        <p:spPr/>
        <p:txBody>
          <a:bodyPr/>
          <a:lstStyle/>
          <a:p>
            <a:r>
              <a:rPr lang="en-US" dirty="0">
                <a:highlight>
                  <a:srgbClr val="00FFFF"/>
                </a:highlight>
              </a:rPr>
              <a:t>The bottom 5 worst-selling pizzas by quantity sold</a:t>
            </a:r>
          </a:p>
        </p:txBody>
      </p:sp>
      <p:sp>
        <p:nvSpPr>
          <p:cNvPr id="3" name="Content Placeholder 2">
            <a:extLst>
              <a:ext uri="{FF2B5EF4-FFF2-40B4-BE49-F238E27FC236}">
                <a16:creationId xmlns:a16="http://schemas.microsoft.com/office/drawing/2014/main" id="{FC6E5D19-5030-1C79-5447-BABA3CBD2709}"/>
              </a:ext>
            </a:extLst>
          </p:cNvPr>
          <p:cNvSpPr>
            <a:spLocks noGrp="1"/>
          </p:cNvSpPr>
          <p:nvPr>
            <p:ph idx="1"/>
          </p:nvPr>
        </p:nvSpPr>
        <p:spPr/>
        <p:txBody>
          <a:bodyPr/>
          <a:lstStyle/>
          <a:p>
            <a:r>
              <a:rPr lang="en-US" sz="1800" dirty="0"/>
              <a:t>SELECT</a:t>
            </a:r>
          </a:p>
          <a:p>
            <a:r>
              <a:rPr lang="en-US" sz="1800" dirty="0" err="1"/>
              <a:t>pizza_name</a:t>
            </a:r>
            <a:r>
              <a:rPr lang="en-US" sz="1800" dirty="0"/>
              <a:t>,</a:t>
            </a:r>
          </a:p>
          <a:p>
            <a:r>
              <a:rPr lang="en-US" sz="1800" dirty="0"/>
              <a:t>SUM(</a:t>
            </a:r>
            <a:r>
              <a:rPr lang="en-US" sz="1800" dirty="0" err="1"/>
              <a:t>total_price</a:t>
            </a:r>
            <a:r>
              <a:rPr lang="en-US" sz="1800" dirty="0"/>
              <a:t>) AS </a:t>
            </a:r>
            <a:r>
              <a:rPr lang="en-US" sz="1800" dirty="0" err="1"/>
              <a:t>Quantity_Sold</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pizza_name</a:t>
            </a:r>
            <a:endParaRPr lang="en-US" sz="1800" dirty="0"/>
          </a:p>
          <a:p>
            <a:r>
              <a:rPr lang="en-US" sz="1800" dirty="0"/>
              <a:t>ORDER BY </a:t>
            </a:r>
            <a:r>
              <a:rPr lang="en-US" sz="1800" dirty="0" err="1"/>
              <a:t>Quantity_Sold</a:t>
            </a:r>
            <a:endParaRPr lang="en-US" sz="1800" dirty="0"/>
          </a:p>
          <a:p>
            <a:r>
              <a:rPr lang="en-US" sz="1800" dirty="0"/>
              <a:t>LIMIT 5;</a:t>
            </a:r>
          </a:p>
          <a:p>
            <a:endParaRPr lang="en-US" dirty="0"/>
          </a:p>
        </p:txBody>
      </p:sp>
      <p:pic>
        <p:nvPicPr>
          <p:cNvPr id="4" name="Picture 3">
            <a:extLst>
              <a:ext uri="{FF2B5EF4-FFF2-40B4-BE49-F238E27FC236}">
                <a16:creationId xmlns:a16="http://schemas.microsoft.com/office/drawing/2014/main" id="{A287D9CA-40F9-9AEF-76A1-821F76ABE8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581304"/>
            <a:ext cx="3283634" cy="1595659"/>
          </a:xfrm>
          <a:prstGeom prst="rect">
            <a:avLst/>
          </a:prstGeom>
        </p:spPr>
      </p:pic>
    </p:spTree>
    <p:extLst>
      <p:ext uri="{BB962C8B-B14F-4D97-AF65-F5344CB8AC3E}">
        <p14:creationId xmlns:p14="http://schemas.microsoft.com/office/powerpoint/2010/main" val="962196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13C3D-2DD6-EC1A-9BA8-F6563637D6E3}"/>
              </a:ext>
            </a:extLst>
          </p:cNvPr>
          <p:cNvSpPr>
            <a:spLocks noGrp="1"/>
          </p:cNvSpPr>
          <p:nvPr>
            <p:ph type="title"/>
          </p:nvPr>
        </p:nvSpPr>
        <p:spPr/>
        <p:txBody>
          <a:bodyPr/>
          <a:lstStyle/>
          <a:p>
            <a:r>
              <a:rPr lang="en-US" dirty="0">
                <a:highlight>
                  <a:srgbClr val="00FFFF"/>
                </a:highlight>
              </a:rPr>
              <a:t>Pizza generates the most revenue</a:t>
            </a:r>
          </a:p>
        </p:txBody>
      </p:sp>
      <p:sp>
        <p:nvSpPr>
          <p:cNvPr id="3" name="Content Placeholder 2">
            <a:extLst>
              <a:ext uri="{FF2B5EF4-FFF2-40B4-BE49-F238E27FC236}">
                <a16:creationId xmlns:a16="http://schemas.microsoft.com/office/drawing/2014/main" id="{3817139C-9505-DD1E-B7DB-7F6A00C28D2C}"/>
              </a:ext>
            </a:extLst>
          </p:cNvPr>
          <p:cNvSpPr>
            <a:spLocks noGrp="1"/>
          </p:cNvSpPr>
          <p:nvPr>
            <p:ph idx="1"/>
          </p:nvPr>
        </p:nvSpPr>
        <p:spPr/>
        <p:txBody>
          <a:bodyPr/>
          <a:lstStyle/>
          <a:p>
            <a:r>
              <a:rPr lang="en-US" sz="1800" dirty="0"/>
              <a:t>SELECT</a:t>
            </a:r>
          </a:p>
          <a:p>
            <a:r>
              <a:rPr lang="en-US" sz="1800" dirty="0" err="1"/>
              <a:t>pizza_name</a:t>
            </a:r>
            <a:r>
              <a:rPr lang="en-US" sz="1800" dirty="0"/>
              <a:t>,</a:t>
            </a:r>
          </a:p>
          <a:p>
            <a:r>
              <a:rPr lang="en-US" sz="1800" dirty="0"/>
              <a:t>SUM(</a:t>
            </a:r>
            <a:r>
              <a:rPr lang="en-US" sz="1800" dirty="0" err="1"/>
              <a:t>total_price</a:t>
            </a:r>
            <a:r>
              <a:rPr lang="en-US" sz="1800" dirty="0"/>
              <a:t>) AS </a:t>
            </a:r>
            <a:r>
              <a:rPr lang="en-US" sz="1800" dirty="0" err="1"/>
              <a:t>Total_Revenue</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pizza_name</a:t>
            </a:r>
            <a:endParaRPr lang="en-US" sz="1800" dirty="0"/>
          </a:p>
          <a:p>
            <a:r>
              <a:rPr lang="en-US" sz="1800" dirty="0"/>
              <a:t>ORDER BY </a:t>
            </a:r>
            <a:r>
              <a:rPr lang="en-US" sz="1800" dirty="0" err="1"/>
              <a:t>Total_Revenue</a:t>
            </a:r>
            <a:r>
              <a:rPr lang="en-US" sz="1800" dirty="0"/>
              <a:t> DESC</a:t>
            </a:r>
          </a:p>
          <a:p>
            <a:r>
              <a:rPr lang="en-US" sz="1800" dirty="0"/>
              <a:t>LIMIT 1;</a:t>
            </a:r>
          </a:p>
          <a:p>
            <a:endParaRPr lang="en-US" dirty="0"/>
          </a:p>
        </p:txBody>
      </p:sp>
      <p:pic>
        <p:nvPicPr>
          <p:cNvPr id="4" name="Picture 3">
            <a:extLst>
              <a:ext uri="{FF2B5EF4-FFF2-40B4-BE49-F238E27FC236}">
                <a16:creationId xmlns:a16="http://schemas.microsoft.com/office/drawing/2014/main" id="{79F69B42-0B97-F339-CA36-C9F4976B4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911" y="4445391"/>
            <a:ext cx="3605359" cy="1731572"/>
          </a:xfrm>
          <a:prstGeom prst="rect">
            <a:avLst/>
          </a:prstGeom>
        </p:spPr>
      </p:pic>
    </p:spTree>
    <p:extLst>
      <p:ext uri="{BB962C8B-B14F-4D97-AF65-F5344CB8AC3E}">
        <p14:creationId xmlns:p14="http://schemas.microsoft.com/office/powerpoint/2010/main" val="2621572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3D45-F2E6-3F8C-EBF2-B65FB1624D15}"/>
              </a:ext>
            </a:extLst>
          </p:cNvPr>
          <p:cNvSpPr>
            <a:spLocks noGrp="1"/>
          </p:cNvSpPr>
          <p:nvPr>
            <p:ph type="title"/>
          </p:nvPr>
        </p:nvSpPr>
        <p:spPr/>
        <p:txBody>
          <a:bodyPr/>
          <a:lstStyle/>
          <a:p>
            <a:r>
              <a:rPr lang="en-US" dirty="0">
                <a:highlight>
                  <a:srgbClr val="00FFFF"/>
                </a:highlight>
              </a:rPr>
              <a:t>Pizza generates the least revenue</a:t>
            </a:r>
          </a:p>
        </p:txBody>
      </p:sp>
      <p:sp>
        <p:nvSpPr>
          <p:cNvPr id="3" name="Content Placeholder 2">
            <a:extLst>
              <a:ext uri="{FF2B5EF4-FFF2-40B4-BE49-F238E27FC236}">
                <a16:creationId xmlns:a16="http://schemas.microsoft.com/office/drawing/2014/main" id="{B5934FE9-0482-DDEB-41B2-5BB48C1370FB}"/>
              </a:ext>
            </a:extLst>
          </p:cNvPr>
          <p:cNvSpPr>
            <a:spLocks noGrp="1"/>
          </p:cNvSpPr>
          <p:nvPr>
            <p:ph idx="1"/>
          </p:nvPr>
        </p:nvSpPr>
        <p:spPr/>
        <p:txBody>
          <a:bodyPr/>
          <a:lstStyle/>
          <a:p>
            <a:r>
              <a:rPr lang="en-US" sz="1800" dirty="0"/>
              <a:t>SELECT</a:t>
            </a:r>
          </a:p>
          <a:p>
            <a:r>
              <a:rPr lang="en-US" sz="1800" dirty="0" err="1"/>
              <a:t>pizza_name</a:t>
            </a:r>
            <a:r>
              <a:rPr lang="en-US" sz="1800" dirty="0"/>
              <a:t>,</a:t>
            </a:r>
          </a:p>
          <a:p>
            <a:r>
              <a:rPr lang="en-US" sz="1800" dirty="0"/>
              <a:t>SUM(</a:t>
            </a:r>
            <a:r>
              <a:rPr lang="en-US" sz="1800" dirty="0" err="1"/>
              <a:t>total_price</a:t>
            </a:r>
            <a:r>
              <a:rPr lang="en-US" sz="1800" dirty="0"/>
              <a:t>) AS </a:t>
            </a:r>
            <a:r>
              <a:rPr lang="en-US" sz="1800" dirty="0" err="1"/>
              <a:t>Total_Revenue</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pizza_name</a:t>
            </a:r>
            <a:endParaRPr lang="en-US" sz="1800" dirty="0"/>
          </a:p>
          <a:p>
            <a:r>
              <a:rPr lang="en-US" sz="1800" dirty="0"/>
              <a:t>ORDER BY </a:t>
            </a:r>
            <a:r>
              <a:rPr lang="en-US" sz="1800" dirty="0" err="1"/>
              <a:t>Total_Revenue</a:t>
            </a:r>
            <a:r>
              <a:rPr lang="en-US" sz="1800" dirty="0"/>
              <a:t> </a:t>
            </a:r>
          </a:p>
          <a:p>
            <a:r>
              <a:rPr lang="en-US" sz="1800" dirty="0"/>
              <a:t>LIMIT 1;</a:t>
            </a:r>
          </a:p>
          <a:p>
            <a:endParaRPr lang="en-US" dirty="0"/>
          </a:p>
        </p:txBody>
      </p:sp>
      <p:pic>
        <p:nvPicPr>
          <p:cNvPr id="4" name="Picture 3">
            <a:extLst>
              <a:ext uri="{FF2B5EF4-FFF2-40B4-BE49-F238E27FC236}">
                <a16:creationId xmlns:a16="http://schemas.microsoft.com/office/drawing/2014/main" id="{11E1B8F7-E530-6AEE-E3B6-835069B44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629003"/>
            <a:ext cx="2931942" cy="1195022"/>
          </a:xfrm>
          <a:prstGeom prst="rect">
            <a:avLst/>
          </a:prstGeom>
        </p:spPr>
      </p:pic>
    </p:spTree>
    <p:extLst>
      <p:ext uri="{BB962C8B-B14F-4D97-AF65-F5344CB8AC3E}">
        <p14:creationId xmlns:p14="http://schemas.microsoft.com/office/powerpoint/2010/main" val="4105778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78130-AECD-F5AE-037A-D8D192C848D8}"/>
              </a:ext>
            </a:extLst>
          </p:cNvPr>
          <p:cNvSpPr>
            <a:spLocks noGrp="1"/>
          </p:cNvSpPr>
          <p:nvPr>
            <p:ph type="title"/>
          </p:nvPr>
        </p:nvSpPr>
        <p:spPr/>
        <p:txBody>
          <a:bodyPr/>
          <a:lstStyle/>
          <a:p>
            <a:r>
              <a:rPr lang="en-US" dirty="0">
                <a:highlight>
                  <a:srgbClr val="00FFFF"/>
                </a:highlight>
              </a:rPr>
              <a:t>Best-sellers by quantity compared to the Best-sellers by revenue</a:t>
            </a:r>
            <a:endParaRPr lang="en-US" dirty="0"/>
          </a:p>
        </p:txBody>
      </p:sp>
      <p:sp>
        <p:nvSpPr>
          <p:cNvPr id="3" name="Content Placeholder 2">
            <a:extLst>
              <a:ext uri="{FF2B5EF4-FFF2-40B4-BE49-F238E27FC236}">
                <a16:creationId xmlns:a16="http://schemas.microsoft.com/office/drawing/2014/main" id="{AA8B0BE3-7168-2781-C542-49A7EBC1BF94}"/>
              </a:ext>
            </a:extLst>
          </p:cNvPr>
          <p:cNvSpPr>
            <a:spLocks noGrp="1"/>
          </p:cNvSpPr>
          <p:nvPr>
            <p:ph sz="half" idx="1"/>
          </p:nvPr>
        </p:nvSpPr>
        <p:spPr/>
        <p:txBody>
          <a:bodyPr>
            <a:normAutofit fontScale="32500" lnSpcReduction="20000"/>
          </a:bodyPr>
          <a:lstStyle/>
          <a:p>
            <a:r>
              <a:rPr lang="en-US" sz="3700" dirty="0"/>
              <a:t>WITH </a:t>
            </a:r>
            <a:r>
              <a:rPr lang="en-US" sz="3700" dirty="0" err="1"/>
              <a:t>BY_Quantity_Sold</a:t>
            </a:r>
            <a:r>
              <a:rPr lang="en-US" sz="3700" dirty="0"/>
              <a:t> AS (</a:t>
            </a:r>
          </a:p>
          <a:p>
            <a:r>
              <a:rPr lang="en-US" sz="3700" dirty="0"/>
              <a:t>SELECT</a:t>
            </a:r>
          </a:p>
          <a:p>
            <a:r>
              <a:rPr lang="en-US" sz="3700" dirty="0"/>
              <a:t>SUM(quantity) AS </a:t>
            </a:r>
            <a:r>
              <a:rPr lang="en-US" sz="3700" dirty="0" err="1"/>
              <a:t>Quantity_Sold</a:t>
            </a:r>
            <a:r>
              <a:rPr lang="en-US" sz="3700" dirty="0"/>
              <a:t>,</a:t>
            </a:r>
          </a:p>
          <a:p>
            <a:r>
              <a:rPr lang="en-US" sz="3700" dirty="0" err="1"/>
              <a:t>pizza_name</a:t>
            </a:r>
            <a:r>
              <a:rPr lang="en-US" sz="3700" dirty="0"/>
              <a:t>,</a:t>
            </a:r>
          </a:p>
          <a:p>
            <a:r>
              <a:rPr lang="en-US" sz="3700" dirty="0"/>
              <a:t>RANK() OVER(ORDER BY SUM(quantity) DESC) AS </a:t>
            </a:r>
            <a:r>
              <a:rPr lang="en-US" sz="3700" dirty="0" err="1"/>
              <a:t>Quantity_Rank</a:t>
            </a:r>
            <a:endParaRPr lang="en-US" sz="3700" dirty="0"/>
          </a:p>
          <a:p>
            <a:r>
              <a:rPr lang="en-US" sz="3700" dirty="0"/>
              <a:t>FROM </a:t>
            </a:r>
            <a:r>
              <a:rPr lang="en-US" sz="3700" dirty="0" err="1"/>
              <a:t>delicious_pizza_analytics_table</a:t>
            </a:r>
            <a:endParaRPr lang="en-US" sz="3700" dirty="0"/>
          </a:p>
          <a:p>
            <a:r>
              <a:rPr lang="en-US" sz="3700" dirty="0"/>
              <a:t>GROUP BY </a:t>
            </a:r>
            <a:r>
              <a:rPr lang="en-US" sz="3700" dirty="0" err="1"/>
              <a:t>pizza_name</a:t>
            </a:r>
            <a:endParaRPr lang="en-US" sz="3700" dirty="0"/>
          </a:p>
          <a:p>
            <a:r>
              <a:rPr lang="en-US" sz="3700" dirty="0"/>
              <a:t>),</a:t>
            </a:r>
          </a:p>
          <a:p>
            <a:r>
              <a:rPr lang="en-US" sz="3700" dirty="0" err="1"/>
              <a:t>BY_Total_Revenue</a:t>
            </a:r>
            <a:r>
              <a:rPr lang="en-US" sz="3700" dirty="0"/>
              <a:t> AS(</a:t>
            </a:r>
          </a:p>
          <a:p>
            <a:r>
              <a:rPr lang="en-US" sz="3700" dirty="0"/>
              <a:t>		SELECT</a:t>
            </a:r>
          </a:p>
          <a:p>
            <a:r>
              <a:rPr lang="en-US" sz="3700" dirty="0"/>
              <a:t>		</a:t>
            </a:r>
            <a:r>
              <a:rPr lang="en-US" sz="3700" dirty="0" err="1"/>
              <a:t>pizza_name</a:t>
            </a:r>
            <a:r>
              <a:rPr lang="en-US" sz="3700" dirty="0"/>
              <a:t>,</a:t>
            </a:r>
          </a:p>
          <a:p>
            <a:r>
              <a:rPr lang="en-US" sz="3700" dirty="0"/>
              <a:t>		SUM(</a:t>
            </a:r>
            <a:r>
              <a:rPr lang="en-US" sz="3700" dirty="0" err="1"/>
              <a:t>total_price</a:t>
            </a:r>
            <a:r>
              <a:rPr lang="en-US" sz="3700" dirty="0"/>
              <a:t>) AS </a:t>
            </a:r>
            <a:r>
              <a:rPr lang="en-US" sz="3700" dirty="0" err="1"/>
              <a:t>Total_Revenue</a:t>
            </a:r>
            <a:r>
              <a:rPr lang="en-US" sz="3700" dirty="0"/>
              <a:t>,</a:t>
            </a:r>
          </a:p>
          <a:p>
            <a:r>
              <a:rPr lang="en-US" sz="3700" dirty="0"/>
              <a:t>        RANK() OVER(ORDER BY SUM(</a:t>
            </a:r>
            <a:r>
              <a:rPr lang="en-US" sz="3700" dirty="0" err="1"/>
              <a:t>total_price</a:t>
            </a:r>
            <a:r>
              <a:rPr lang="en-US" sz="3700" dirty="0"/>
              <a:t>) DESC) AS </a:t>
            </a:r>
            <a:r>
              <a:rPr lang="en-US" sz="3700" dirty="0" err="1"/>
              <a:t>Revenue_Rank</a:t>
            </a:r>
            <a:endParaRPr lang="en-US" sz="3700" dirty="0"/>
          </a:p>
          <a:p>
            <a:r>
              <a:rPr lang="en-US" sz="3700" dirty="0"/>
              <a:t>		FROM </a:t>
            </a:r>
            <a:r>
              <a:rPr lang="en-US" sz="3700" dirty="0" err="1"/>
              <a:t>delicious_pizza_analytics_table</a:t>
            </a:r>
            <a:endParaRPr lang="en-US" sz="3700" dirty="0"/>
          </a:p>
          <a:p>
            <a:r>
              <a:rPr lang="en-US" sz="3700" dirty="0"/>
              <a:t>		GROUP BY </a:t>
            </a:r>
            <a:r>
              <a:rPr lang="en-US" sz="3700" dirty="0" err="1"/>
              <a:t>pizza_name</a:t>
            </a:r>
            <a:endParaRPr lang="en-US" sz="3700" dirty="0"/>
          </a:p>
          <a:p>
            <a:r>
              <a:rPr lang="en-US" sz="3700" dirty="0"/>
              <a:t>)</a:t>
            </a:r>
          </a:p>
          <a:p>
            <a:endParaRPr lang="en-US" dirty="0"/>
          </a:p>
        </p:txBody>
      </p:sp>
      <p:sp>
        <p:nvSpPr>
          <p:cNvPr id="4" name="Content Placeholder 3">
            <a:extLst>
              <a:ext uri="{FF2B5EF4-FFF2-40B4-BE49-F238E27FC236}">
                <a16:creationId xmlns:a16="http://schemas.microsoft.com/office/drawing/2014/main" id="{0C72C088-EF4C-C55F-E6EA-B5C339650D2A}"/>
              </a:ext>
            </a:extLst>
          </p:cNvPr>
          <p:cNvSpPr>
            <a:spLocks noGrp="1"/>
          </p:cNvSpPr>
          <p:nvPr>
            <p:ph sz="half" idx="2"/>
          </p:nvPr>
        </p:nvSpPr>
        <p:spPr/>
        <p:txBody>
          <a:bodyPr>
            <a:normAutofit fontScale="32500" lnSpcReduction="20000"/>
          </a:bodyPr>
          <a:lstStyle/>
          <a:p>
            <a:r>
              <a:rPr lang="en-US" sz="4000" dirty="0"/>
              <a:t>SELECT</a:t>
            </a:r>
          </a:p>
          <a:p>
            <a:r>
              <a:rPr lang="en-US" sz="4000" dirty="0" err="1"/>
              <a:t>qs.pizza_name</a:t>
            </a:r>
            <a:r>
              <a:rPr lang="en-US" sz="4000" dirty="0"/>
              <a:t>,</a:t>
            </a:r>
          </a:p>
          <a:p>
            <a:r>
              <a:rPr lang="en-US" sz="4000" dirty="0" err="1"/>
              <a:t>qs.Quantity_Sold</a:t>
            </a:r>
            <a:r>
              <a:rPr lang="en-US" sz="4000" dirty="0"/>
              <a:t>,</a:t>
            </a:r>
          </a:p>
          <a:p>
            <a:r>
              <a:rPr lang="en-US" sz="4000" dirty="0" err="1"/>
              <a:t>tr.pizza_name</a:t>
            </a:r>
            <a:r>
              <a:rPr lang="en-US" sz="4000" dirty="0"/>
              <a:t>,</a:t>
            </a:r>
          </a:p>
          <a:p>
            <a:r>
              <a:rPr lang="en-US" sz="4000" dirty="0" err="1"/>
              <a:t>tr.Total_Revenue</a:t>
            </a:r>
            <a:endParaRPr lang="en-US" sz="4000" dirty="0"/>
          </a:p>
          <a:p>
            <a:r>
              <a:rPr lang="en-US" sz="4000" dirty="0"/>
              <a:t>FROM </a:t>
            </a:r>
            <a:r>
              <a:rPr lang="en-US" sz="4000" dirty="0" err="1"/>
              <a:t>BY_Quantity_Sold</a:t>
            </a:r>
            <a:r>
              <a:rPr lang="en-US" sz="4000" dirty="0"/>
              <a:t> </a:t>
            </a:r>
            <a:r>
              <a:rPr lang="en-US" sz="4000" dirty="0" err="1"/>
              <a:t>qs</a:t>
            </a:r>
            <a:endParaRPr lang="en-US" sz="4000" dirty="0"/>
          </a:p>
          <a:p>
            <a:r>
              <a:rPr lang="en-US" sz="4000" dirty="0"/>
              <a:t>JOIN </a:t>
            </a:r>
            <a:r>
              <a:rPr lang="en-US" sz="4000" dirty="0" err="1"/>
              <a:t>BY_Total_Revenue</a:t>
            </a:r>
            <a:r>
              <a:rPr lang="en-US" sz="4000" dirty="0"/>
              <a:t> tr</a:t>
            </a:r>
          </a:p>
          <a:p>
            <a:r>
              <a:rPr lang="en-US" sz="4000" dirty="0"/>
              <a:t>ON </a:t>
            </a:r>
            <a:r>
              <a:rPr lang="en-US" sz="4000" dirty="0" err="1"/>
              <a:t>qs.Quantity_Rank</a:t>
            </a:r>
            <a:r>
              <a:rPr lang="en-US" sz="4000" dirty="0"/>
              <a:t>=1 AND </a:t>
            </a:r>
            <a:r>
              <a:rPr lang="en-US" sz="4000" dirty="0" err="1"/>
              <a:t>Revenue_Rank</a:t>
            </a:r>
            <a:r>
              <a:rPr lang="en-US" sz="4000" dirty="0"/>
              <a:t>=1;</a:t>
            </a:r>
          </a:p>
          <a:p>
            <a:endParaRPr lang="en-US" dirty="0"/>
          </a:p>
        </p:txBody>
      </p:sp>
      <p:pic>
        <p:nvPicPr>
          <p:cNvPr id="5" name="Picture 4">
            <a:extLst>
              <a:ext uri="{FF2B5EF4-FFF2-40B4-BE49-F238E27FC236}">
                <a16:creationId xmlns:a16="http://schemas.microsoft.com/office/drawing/2014/main" id="{7C4AA0DD-380C-2EBB-E175-2F3E575F40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7131" y="4758616"/>
            <a:ext cx="4742278" cy="1248289"/>
          </a:xfrm>
          <a:prstGeom prst="rect">
            <a:avLst/>
          </a:prstGeom>
        </p:spPr>
      </p:pic>
    </p:spTree>
    <p:extLst>
      <p:ext uri="{BB962C8B-B14F-4D97-AF65-F5344CB8AC3E}">
        <p14:creationId xmlns:p14="http://schemas.microsoft.com/office/powerpoint/2010/main" val="2904977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2CF6D-7354-F2F9-B81D-52288B06B97E}"/>
              </a:ext>
            </a:extLst>
          </p:cNvPr>
          <p:cNvSpPr>
            <a:spLocks noGrp="1"/>
          </p:cNvSpPr>
          <p:nvPr>
            <p:ph type="title"/>
          </p:nvPr>
        </p:nvSpPr>
        <p:spPr/>
        <p:txBody>
          <a:bodyPr/>
          <a:lstStyle/>
          <a:p>
            <a:r>
              <a:rPr lang="en-US" b="1" u="sng" dirty="0">
                <a:highlight>
                  <a:srgbClr val="000080"/>
                </a:highlight>
              </a:rPr>
              <a:t>Pizza Performance</a:t>
            </a:r>
            <a:br>
              <a:rPr lang="en-US" dirty="0"/>
            </a:br>
            <a:endParaRPr lang="en-US" dirty="0"/>
          </a:p>
        </p:txBody>
      </p:sp>
      <p:sp>
        <p:nvSpPr>
          <p:cNvPr id="3" name="Content Placeholder 2">
            <a:extLst>
              <a:ext uri="{FF2B5EF4-FFF2-40B4-BE49-F238E27FC236}">
                <a16:creationId xmlns:a16="http://schemas.microsoft.com/office/drawing/2014/main" id="{9BFAC604-BB9F-3FEB-F52D-91BEA805EDA5}"/>
              </a:ext>
            </a:extLst>
          </p:cNvPr>
          <p:cNvSpPr>
            <a:spLocks noGrp="1"/>
          </p:cNvSpPr>
          <p:nvPr>
            <p:ph idx="1"/>
          </p:nvPr>
        </p:nvSpPr>
        <p:spPr>
          <a:xfrm>
            <a:off x="838200" y="1266092"/>
            <a:ext cx="10515600" cy="5226783"/>
          </a:xfrm>
        </p:spPr>
        <p:txBody>
          <a:bodyPr>
            <a:normAutofit fontScale="55000" lnSpcReduction="20000"/>
          </a:bodyPr>
          <a:lstStyle/>
          <a:p>
            <a:r>
              <a:rPr lang="en-US" sz="3300" dirty="0"/>
              <a:t>Among the </a:t>
            </a:r>
            <a:r>
              <a:rPr lang="en-US" sz="3300" b="1" dirty="0"/>
              <a:t>49,574 pizzas sold</a:t>
            </a:r>
            <a:r>
              <a:rPr lang="en-US" sz="3300" dirty="0"/>
              <a:t>, the </a:t>
            </a:r>
            <a:r>
              <a:rPr lang="en-US" sz="3300" b="1" dirty="0"/>
              <a:t>Classic Deluxe Pizza</a:t>
            </a:r>
            <a:r>
              <a:rPr lang="en-US" sz="3300" dirty="0"/>
              <a:t> emerged as the top seller by quantity with </a:t>
            </a:r>
            <a:r>
              <a:rPr lang="en-US" sz="3300" b="1" dirty="0"/>
              <a:t>2,453 units sold</a:t>
            </a:r>
            <a:r>
              <a:rPr lang="en-US" sz="3300" dirty="0"/>
              <a:t>, reflecting strong and consistent customer demand for this product. At the other end of the spectrum, the </a:t>
            </a:r>
            <a:r>
              <a:rPr lang="en-US" sz="3300" b="1" dirty="0"/>
              <a:t>Spinach Pesto Pizza</a:t>
            </a:r>
            <a:r>
              <a:rPr lang="en-US" sz="3300" dirty="0"/>
              <a:t> recorded the lowest quantity sold, sitting significantly behind the store's bestseller. Rather than viewing this as an immediate risk, the business should monitor whether the Spinach Pesto's low performance is driven by poor visibility on the menu, limited marketing, or genuine lack of customer interest before deciding whether to retain or retire it.</a:t>
            </a:r>
          </a:p>
          <a:p>
            <a:r>
              <a:rPr lang="en-US" sz="3300" dirty="0"/>
              <a:t>From a revenue perspective, the </a:t>
            </a:r>
            <a:r>
              <a:rPr lang="en-US" sz="3300" b="1" dirty="0"/>
              <a:t>Thai Chicken Pizza</a:t>
            </a:r>
            <a:r>
              <a:rPr lang="en-US" sz="3300" dirty="0"/>
              <a:t> generated the highest revenue at </a:t>
            </a:r>
            <a:r>
              <a:rPr lang="en-US" sz="3300" b="1" dirty="0"/>
              <a:t>$43,434.25</a:t>
            </a:r>
            <a:r>
              <a:rPr lang="en-US" sz="3300" dirty="0"/>
              <a:t>, representing approximately </a:t>
            </a:r>
            <a:r>
              <a:rPr lang="en-US" sz="3300" b="1" dirty="0"/>
              <a:t>5.3% of total store revenue</a:t>
            </a:r>
            <a:r>
              <a:rPr lang="en-US" sz="3300" dirty="0"/>
              <a:t>  a notable contribution for a single pizza type. The </a:t>
            </a:r>
            <a:r>
              <a:rPr lang="en-US" sz="3300" b="1" dirty="0"/>
              <a:t>Brie Carre Pizza</a:t>
            </a:r>
            <a:r>
              <a:rPr lang="en-US" sz="3300" dirty="0"/>
              <a:t> generated the least revenue at </a:t>
            </a:r>
            <a:r>
              <a:rPr lang="en-US" sz="3300" b="1" dirty="0"/>
              <a:t>$11,588</a:t>
            </a:r>
            <a:r>
              <a:rPr lang="en-US" sz="3300" dirty="0"/>
              <a:t>, contributing roughly </a:t>
            </a:r>
            <a:r>
              <a:rPr lang="en-US" sz="3300" b="1" dirty="0"/>
              <a:t>1.4% to total revenue</a:t>
            </a:r>
            <a:r>
              <a:rPr lang="en-US" sz="3300" dirty="0"/>
              <a:t>. The gap between the highest and lowest revenue-generating pizzas is meaningful and suggests that premium ingredient pizzas like the Thai Chicken command both higher prices and stronger customer willingness to pay.</a:t>
            </a:r>
          </a:p>
          <a:p>
            <a:r>
              <a:rPr lang="en-US" sz="3300" dirty="0"/>
              <a:t>The most important insight in this section is that the </a:t>
            </a:r>
            <a:r>
              <a:rPr lang="en-US" sz="3300" b="1" dirty="0"/>
              <a:t>best seller by quantity and the best seller by revenue are not the same pizza</a:t>
            </a:r>
            <a:r>
              <a:rPr lang="en-US" sz="3300" dirty="0"/>
              <a:t>. The Classic Deluxe Pizza leads in units sold while the Thai Chicken Pizza leads in revenue, which reveals that the Classic Deluxe is likely a lower priced, high volume product while the Thai Chicken is a premium priced, moderate volume product. Rather than raising the price of the Classic Deluxe and risking a drop in its popularity, the store should focus on </a:t>
            </a:r>
            <a:r>
              <a:rPr lang="en-US" sz="3300" b="1" dirty="0"/>
              <a:t>upselling larger sizes</a:t>
            </a:r>
            <a:r>
              <a:rPr lang="en-US" sz="3300" dirty="0"/>
              <a:t> of the Classic Deluxe and </a:t>
            </a:r>
            <a:r>
              <a:rPr lang="en-US" sz="3300" b="1" dirty="0"/>
              <a:t>promoting the Thai Chicken more visibly</a:t>
            </a:r>
            <a:r>
              <a:rPr lang="en-US" sz="3300" dirty="0"/>
              <a:t> to customers who may not yet be aware of it. A combination of volume from the Classic Deluxe and premium revenue from the Thai Chicken is the most balanced path to maximizing overall pizza performance.</a:t>
            </a:r>
          </a:p>
          <a:p>
            <a:r>
              <a:rPr lang="en-US" dirty="0"/>
              <a:t> </a:t>
            </a:r>
          </a:p>
          <a:p>
            <a:endParaRPr lang="en-US" dirty="0"/>
          </a:p>
        </p:txBody>
      </p:sp>
    </p:spTree>
    <p:extLst>
      <p:ext uri="{BB962C8B-B14F-4D97-AF65-F5344CB8AC3E}">
        <p14:creationId xmlns:p14="http://schemas.microsoft.com/office/powerpoint/2010/main" val="406116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85C2F-F76A-FBE0-F730-1379A7EFBE7F}"/>
              </a:ext>
            </a:extLst>
          </p:cNvPr>
          <p:cNvSpPr>
            <a:spLocks noGrp="1"/>
          </p:cNvSpPr>
          <p:nvPr>
            <p:ph type="title"/>
          </p:nvPr>
        </p:nvSpPr>
        <p:spPr>
          <a:xfrm>
            <a:off x="838200" y="492369"/>
            <a:ext cx="10515600" cy="1198319"/>
          </a:xfrm>
        </p:spPr>
        <p:txBody>
          <a:bodyPr>
            <a:normAutofit/>
          </a:bodyPr>
          <a:lstStyle/>
          <a:p>
            <a:br>
              <a:rPr lang="en-US" sz="2400" dirty="0">
                <a:highlight>
                  <a:srgbClr val="000080"/>
                </a:highlight>
              </a:rPr>
            </a:br>
            <a:r>
              <a:rPr lang="en-US" sz="2400" dirty="0">
                <a:highlight>
                  <a:srgbClr val="000080"/>
                </a:highlight>
              </a:rPr>
              <a:t>Category &amp; Size Analysis</a:t>
            </a:r>
            <a:br>
              <a:rPr lang="en-US" sz="2400" dirty="0">
                <a:highlight>
                  <a:srgbClr val="000080"/>
                </a:highlight>
              </a:rPr>
            </a:br>
            <a:r>
              <a:rPr lang="en-US" sz="2400" dirty="0">
                <a:highlight>
                  <a:srgbClr val="000080"/>
                </a:highlight>
              </a:rPr>
              <a:t>Percentage of total sales by each pizza category</a:t>
            </a:r>
            <a:endParaRPr lang="en-US" sz="2400" dirty="0"/>
          </a:p>
        </p:txBody>
      </p:sp>
      <p:sp>
        <p:nvSpPr>
          <p:cNvPr id="3" name="Content Placeholder 2">
            <a:extLst>
              <a:ext uri="{FF2B5EF4-FFF2-40B4-BE49-F238E27FC236}">
                <a16:creationId xmlns:a16="http://schemas.microsoft.com/office/drawing/2014/main" id="{65E3FBDC-9E08-4C25-51F1-0BD9C930F9E6}"/>
              </a:ext>
            </a:extLst>
          </p:cNvPr>
          <p:cNvSpPr>
            <a:spLocks noGrp="1"/>
          </p:cNvSpPr>
          <p:nvPr>
            <p:ph sz="half" idx="1"/>
          </p:nvPr>
        </p:nvSpPr>
        <p:spPr/>
        <p:txBody>
          <a:bodyPr>
            <a:normAutofit fontScale="85000" lnSpcReduction="20000"/>
          </a:bodyPr>
          <a:lstStyle/>
          <a:p>
            <a:r>
              <a:rPr lang="en-US" sz="2300" dirty="0"/>
              <a:t>WITH </a:t>
            </a:r>
            <a:r>
              <a:rPr lang="en-US" sz="2300" dirty="0" err="1"/>
              <a:t>Total_Revenue</a:t>
            </a:r>
            <a:r>
              <a:rPr lang="en-US" sz="2300" dirty="0"/>
              <a:t> AS(</a:t>
            </a:r>
          </a:p>
          <a:p>
            <a:r>
              <a:rPr lang="en-US" sz="2300" dirty="0"/>
              <a:t>SELECT</a:t>
            </a:r>
          </a:p>
          <a:p>
            <a:r>
              <a:rPr lang="en-US" sz="2300" dirty="0"/>
              <a:t>SUM(</a:t>
            </a:r>
            <a:r>
              <a:rPr lang="en-US" sz="2300" dirty="0" err="1"/>
              <a:t>total_price</a:t>
            </a:r>
            <a:r>
              <a:rPr lang="en-US" sz="2300" dirty="0"/>
              <a:t>) AS </a:t>
            </a:r>
            <a:r>
              <a:rPr lang="en-US" sz="2300" dirty="0" err="1"/>
              <a:t>Total_Sales</a:t>
            </a:r>
            <a:endParaRPr lang="en-US" sz="2300" dirty="0"/>
          </a:p>
          <a:p>
            <a:r>
              <a:rPr lang="en-US" sz="2300" dirty="0"/>
              <a:t>FROM </a:t>
            </a:r>
            <a:r>
              <a:rPr lang="en-US" sz="2300" dirty="0" err="1"/>
              <a:t>delicious_pizza_analytics_table</a:t>
            </a:r>
            <a:endParaRPr lang="en-US" sz="2300" dirty="0"/>
          </a:p>
          <a:p>
            <a:r>
              <a:rPr lang="en-US" sz="2300" dirty="0"/>
              <a:t>),</a:t>
            </a:r>
          </a:p>
          <a:p>
            <a:r>
              <a:rPr lang="en-US" sz="2300" dirty="0" err="1"/>
              <a:t>Revenue_By_Category</a:t>
            </a:r>
            <a:r>
              <a:rPr lang="en-US" sz="2300" dirty="0"/>
              <a:t> AS (</a:t>
            </a:r>
          </a:p>
          <a:p>
            <a:r>
              <a:rPr lang="en-US" sz="2300" dirty="0"/>
              <a:t>SELECT</a:t>
            </a:r>
          </a:p>
          <a:p>
            <a:r>
              <a:rPr lang="en-US" sz="2300" dirty="0"/>
              <a:t>SUM(</a:t>
            </a:r>
            <a:r>
              <a:rPr lang="en-US" sz="2300" dirty="0" err="1"/>
              <a:t>total_price</a:t>
            </a:r>
            <a:r>
              <a:rPr lang="en-US" sz="2300" dirty="0"/>
              <a:t>) AS </a:t>
            </a:r>
            <a:r>
              <a:rPr lang="en-US" sz="2300" dirty="0" err="1"/>
              <a:t>Sales_per_Category</a:t>
            </a:r>
            <a:r>
              <a:rPr lang="en-US" sz="2300" dirty="0"/>
              <a:t>,</a:t>
            </a:r>
          </a:p>
          <a:p>
            <a:r>
              <a:rPr lang="en-US" sz="2300" dirty="0" err="1"/>
              <a:t>pizza_category</a:t>
            </a:r>
            <a:endParaRPr lang="en-US" sz="2300" dirty="0"/>
          </a:p>
          <a:p>
            <a:r>
              <a:rPr lang="en-US" sz="2300" dirty="0"/>
              <a:t>FROM </a:t>
            </a:r>
            <a:r>
              <a:rPr lang="en-US" sz="2300" dirty="0" err="1"/>
              <a:t>delicious_pizza_analytics_table</a:t>
            </a:r>
            <a:endParaRPr lang="en-US" sz="2300" dirty="0"/>
          </a:p>
          <a:p>
            <a:r>
              <a:rPr lang="en-US" sz="2300" dirty="0"/>
              <a:t>GROUP BY </a:t>
            </a:r>
            <a:r>
              <a:rPr lang="en-US" sz="2300" dirty="0" err="1"/>
              <a:t>pizza_category</a:t>
            </a:r>
            <a:endParaRPr lang="en-US" sz="2300" dirty="0"/>
          </a:p>
          <a:p>
            <a:r>
              <a:rPr lang="en-US" sz="2300" dirty="0"/>
              <a:t>)</a:t>
            </a:r>
          </a:p>
          <a:p>
            <a:endParaRPr lang="en-US" dirty="0"/>
          </a:p>
        </p:txBody>
      </p:sp>
      <p:sp>
        <p:nvSpPr>
          <p:cNvPr id="4" name="Content Placeholder 3">
            <a:extLst>
              <a:ext uri="{FF2B5EF4-FFF2-40B4-BE49-F238E27FC236}">
                <a16:creationId xmlns:a16="http://schemas.microsoft.com/office/drawing/2014/main" id="{A99D9102-6562-BDB3-3794-D18588FFA8DE}"/>
              </a:ext>
            </a:extLst>
          </p:cNvPr>
          <p:cNvSpPr>
            <a:spLocks noGrp="1"/>
          </p:cNvSpPr>
          <p:nvPr>
            <p:ph sz="half" idx="2"/>
          </p:nvPr>
        </p:nvSpPr>
        <p:spPr/>
        <p:txBody>
          <a:bodyPr>
            <a:normAutofit fontScale="85000" lnSpcReduction="20000"/>
          </a:bodyPr>
          <a:lstStyle/>
          <a:p>
            <a:r>
              <a:rPr lang="en-US" dirty="0"/>
              <a:t> </a:t>
            </a:r>
          </a:p>
          <a:p>
            <a:r>
              <a:rPr lang="en-US" sz="2100" dirty="0"/>
              <a:t>SELECT</a:t>
            </a:r>
          </a:p>
          <a:p>
            <a:r>
              <a:rPr lang="en-US" sz="2100" dirty="0" err="1"/>
              <a:t>pizza_category</a:t>
            </a:r>
            <a:r>
              <a:rPr lang="en-US" sz="2100" dirty="0"/>
              <a:t>,</a:t>
            </a:r>
          </a:p>
          <a:p>
            <a:r>
              <a:rPr lang="en-US" sz="2100" dirty="0"/>
              <a:t>(</a:t>
            </a:r>
            <a:r>
              <a:rPr lang="en-US" sz="2100" dirty="0" err="1"/>
              <a:t>Sales_per_Category</a:t>
            </a:r>
            <a:r>
              <a:rPr lang="en-US" sz="2100" dirty="0"/>
              <a:t>/</a:t>
            </a:r>
            <a:r>
              <a:rPr lang="en-US" sz="2100" dirty="0" err="1"/>
              <a:t>Total_Sales</a:t>
            </a:r>
            <a:r>
              <a:rPr lang="en-US" sz="2100" dirty="0"/>
              <a:t>)*100 AS </a:t>
            </a:r>
            <a:r>
              <a:rPr lang="en-US" sz="2100" dirty="0" err="1"/>
              <a:t>Percentage_Sales_Per_Category</a:t>
            </a:r>
            <a:endParaRPr lang="en-US" sz="2100" dirty="0"/>
          </a:p>
          <a:p>
            <a:r>
              <a:rPr lang="en-US" sz="2100" dirty="0"/>
              <a:t>FROM </a:t>
            </a:r>
            <a:r>
              <a:rPr lang="en-US" sz="2100" dirty="0" err="1"/>
              <a:t>Total_Revenue</a:t>
            </a:r>
            <a:r>
              <a:rPr lang="en-US" sz="2100" dirty="0"/>
              <a:t>, </a:t>
            </a:r>
            <a:r>
              <a:rPr lang="en-US" sz="2100" dirty="0" err="1"/>
              <a:t>Revenue_By_Category</a:t>
            </a:r>
            <a:endParaRPr lang="en-US" sz="2100" dirty="0"/>
          </a:p>
          <a:p>
            <a:r>
              <a:rPr lang="en-US" sz="2100" dirty="0"/>
              <a:t>ORDER BY </a:t>
            </a:r>
            <a:r>
              <a:rPr lang="en-US" sz="2100" dirty="0" err="1"/>
              <a:t>Percentage_Sales_Per_Category</a:t>
            </a:r>
            <a:r>
              <a:rPr lang="en-US" sz="2100" dirty="0"/>
              <a:t> DESC;</a:t>
            </a:r>
          </a:p>
          <a:p>
            <a:endParaRPr lang="en-US" dirty="0"/>
          </a:p>
        </p:txBody>
      </p:sp>
      <p:pic>
        <p:nvPicPr>
          <p:cNvPr id="5" name="Picture 4">
            <a:extLst>
              <a:ext uri="{FF2B5EF4-FFF2-40B4-BE49-F238E27FC236}">
                <a16:creationId xmlns:a16="http://schemas.microsoft.com/office/drawing/2014/main" id="{6A15C010-8134-4EBC-00B5-0A1A97693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8086" y="4253644"/>
            <a:ext cx="3896751" cy="1682922"/>
          </a:xfrm>
          <a:prstGeom prst="rect">
            <a:avLst/>
          </a:prstGeom>
        </p:spPr>
      </p:pic>
    </p:spTree>
    <p:extLst>
      <p:ext uri="{BB962C8B-B14F-4D97-AF65-F5344CB8AC3E}">
        <p14:creationId xmlns:p14="http://schemas.microsoft.com/office/powerpoint/2010/main" val="2263524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1AD3-F2CF-3FA1-111E-DA00EB6D4322}"/>
              </a:ext>
            </a:extLst>
          </p:cNvPr>
          <p:cNvSpPr>
            <a:spLocks noGrp="1"/>
          </p:cNvSpPr>
          <p:nvPr>
            <p:ph type="title"/>
          </p:nvPr>
        </p:nvSpPr>
        <p:spPr/>
        <p:txBody>
          <a:bodyPr/>
          <a:lstStyle/>
          <a:p>
            <a:r>
              <a:rPr lang="en-US" dirty="0">
                <a:highlight>
                  <a:srgbClr val="00FFFF"/>
                </a:highlight>
              </a:rPr>
              <a:t>The most popular pizza size by number of orders</a:t>
            </a:r>
          </a:p>
        </p:txBody>
      </p:sp>
      <p:sp>
        <p:nvSpPr>
          <p:cNvPr id="3" name="Content Placeholder 2">
            <a:extLst>
              <a:ext uri="{FF2B5EF4-FFF2-40B4-BE49-F238E27FC236}">
                <a16:creationId xmlns:a16="http://schemas.microsoft.com/office/drawing/2014/main" id="{73D41B86-1EF0-F1C4-1DB4-3EDF33A92F5B}"/>
              </a:ext>
            </a:extLst>
          </p:cNvPr>
          <p:cNvSpPr>
            <a:spLocks noGrp="1"/>
          </p:cNvSpPr>
          <p:nvPr>
            <p:ph idx="1"/>
          </p:nvPr>
        </p:nvSpPr>
        <p:spPr/>
        <p:txBody>
          <a:bodyPr/>
          <a:lstStyle/>
          <a:p>
            <a:r>
              <a:rPr lang="en-US" sz="1800" dirty="0"/>
              <a:t>SELECT</a:t>
            </a:r>
          </a:p>
          <a:p>
            <a:r>
              <a:rPr lang="en-US" sz="1800" dirty="0"/>
              <a:t>COUNT(DISTINCT </a:t>
            </a:r>
            <a:r>
              <a:rPr lang="en-US" sz="1800" dirty="0" err="1"/>
              <a:t>order_id</a:t>
            </a:r>
            <a:r>
              <a:rPr lang="en-US" sz="1800" dirty="0"/>
              <a:t>) AS </a:t>
            </a:r>
            <a:r>
              <a:rPr lang="en-US" sz="1800" dirty="0" err="1"/>
              <a:t>Total_Orders</a:t>
            </a:r>
            <a:r>
              <a:rPr lang="en-US" sz="1800" dirty="0"/>
              <a:t>,</a:t>
            </a:r>
          </a:p>
          <a:p>
            <a:r>
              <a:rPr lang="en-US" sz="1800" dirty="0" err="1"/>
              <a:t>pizza_size</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pizza_size</a:t>
            </a:r>
            <a:endParaRPr lang="en-US" sz="1800" dirty="0"/>
          </a:p>
          <a:p>
            <a:r>
              <a:rPr lang="en-US" sz="1800" dirty="0"/>
              <a:t>ORDER BY </a:t>
            </a:r>
            <a:r>
              <a:rPr lang="en-US" sz="1800" dirty="0" err="1"/>
              <a:t>Total_Orders</a:t>
            </a:r>
            <a:r>
              <a:rPr lang="en-US" sz="1800" dirty="0"/>
              <a:t> DESC</a:t>
            </a:r>
          </a:p>
          <a:p>
            <a:r>
              <a:rPr lang="en-US" sz="1800" dirty="0"/>
              <a:t>LIMIT 1;</a:t>
            </a:r>
          </a:p>
          <a:p>
            <a:endParaRPr lang="en-US" dirty="0"/>
          </a:p>
        </p:txBody>
      </p:sp>
      <p:pic>
        <p:nvPicPr>
          <p:cNvPr id="4" name="Picture 3">
            <a:extLst>
              <a:ext uri="{FF2B5EF4-FFF2-40B4-BE49-F238E27FC236}">
                <a16:creationId xmlns:a16="http://schemas.microsoft.com/office/drawing/2014/main" id="{16F0D722-C08F-0FB0-A462-A511B9C96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108" y="4829834"/>
            <a:ext cx="2833101" cy="1347129"/>
          </a:xfrm>
          <a:prstGeom prst="rect">
            <a:avLst/>
          </a:prstGeom>
        </p:spPr>
      </p:pic>
    </p:spTree>
    <p:extLst>
      <p:ext uri="{BB962C8B-B14F-4D97-AF65-F5344CB8AC3E}">
        <p14:creationId xmlns:p14="http://schemas.microsoft.com/office/powerpoint/2010/main" val="1187493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8B46C-C54B-20A0-DA50-59AA3C2968E3}"/>
              </a:ext>
            </a:extLst>
          </p:cNvPr>
          <p:cNvSpPr>
            <a:spLocks noGrp="1"/>
          </p:cNvSpPr>
          <p:nvPr>
            <p:ph type="title"/>
          </p:nvPr>
        </p:nvSpPr>
        <p:spPr/>
        <p:txBody>
          <a:bodyPr/>
          <a:lstStyle/>
          <a:p>
            <a:r>
              <a:rPr lang="en-US" dirty="0"/>
              <a:t>Pizza size by Revenue in comparison to quantity sold</a:t>
            </a:r>
          </a:p>
        </p:txBody>
      </p:sp>
      <p:sp>
        <p:nvSpPr>
          <p:cNvPr id="3" name="Content Placeholder 2">
            <a:extLst>
              <a:ext uri="{FF2B5EF4-FFF2-40B4-BE49-F238E27FC236}">
                <a16:creationId xmlns:a16="http://schemas.microsoft.com/office/drawing/2014/main" id="{A2EB541A-D52A-0125-6528-AD15F655A895}"/>
              </a:ext>
            </a:extLst>
          </p:cNvPr>
          <p:cNvSpPr>
            <a:spLocks noGrp="1"/>
          </p:cNvSpPr>
          <p:nvPr>
            <p:ph sz="half" idx="1"/>
          </p:nvPr>
        </p:nvSpPr>
        <p:spPr/>
        <p:txBody>
          <a:bodyPr>
            <a:normAutofit fontScale="40000" lnSpcReduction="20000"/>
          </a:bodyPr>
          <a:lstStyle/>
          <a:p>
            <a:r>
              <a:rPr lang="en-US" dirty="0"/>
              <a:t>WITH </a:t>
            </a:r>
            <a:r>
              <a:rPr lang="en-US" dirty="0" err="1"/>
              <a:t>BY_Revenue</a:t>
            </a:r>
            <a:r>
              <a:rPr lang="en-US" dirty="0"/>
              <a:t> AS (</a:t>
            </a:r>
          </a:p>
          <a:p>
            <a:r>
              <a:rPr lang="en-US" dirty="0"/>
              <a:t>SELECT </a:t>
            </a:r>
          </a:p>
          <a:p>
            <a:r>
              <a:rPr lang="en-US" dirty="0"/>
              <a:t>SUM(</a:t>
            </a:r>
            <a:r>
              <a:rPr lang="en-US" dirty="0" err="1"/>
              <a:t>total_price</a:t>
            </a:r>
            <a:r>
              <a:rPr lang="en-US" dirty="0"/>
              <a:t>) AS </a:t>
            </a:r>
            <a:r>
              <a:rPr lang="en-US" dirty="0" err="1"/>
              <a:t>Total_Revenue</a:t>
            </a:r>
            <a:r>
              <a:rPr lang="en-US" dirty="0"/>
              <a:t>,</a:t>
            </a:r>
          </a:p>
          <a:p>
            <a:r>
              <a:rPr lang="en-US" dirty="0" err="1"/>
              <a:t>pizza_size</a:t>
            </a:r>
            <a:r>
              <a:rPr lang="en-US" dirty="0"/>
              <a:t>,</a:t>
            </a:r>
          </a:p>
          <a:p>
            <a:r>
              <a:rPr lang="en-US" dirty="0"/>
              <a:t>RANK() OVER(ORDER BY SUM(</a:t>
            </a:r>
            <a:r>
              <a:rPr lang="en-US" dirty="0" err="1"/>
              <a:t>total_price</a:t>
            </a:r>
            <a:r>
              <a:rPr lang="en-US" dirty="0"/>
              <a:t>) DESC) </a:t>
            </a:r>
            <a:r>
              <a:rPr lang="en-US" dirty="0" err="1"/>
              <a:t>Revenue_Rank</a:t>
            </a:r>
            <a:endParaRPr lang="en-US" dirty="0"/>
          </a:p>
          <a:p>
            <a:r>
              <a:rPr lang="en-US" dirty="0"/>
              <a:t>FROM </a:t>
            </a:r>
            <a:r>
              <a:rPr lang="en-US" dirty="0" err="1"/>
              <a:t>delicious_pizza_analytics_table</a:t>
            </a:r>
            <a:endParaRPr lang="en-US" dirty="0"/>
          </a:p>
          <a:p>
            <a:r>
              <a:rPr lang="en-US" dirty="0"/>
              <a:t>GROUP BY </a:t>
            </a:r>
            <a:r>
              <a:rPr lang="en-US" dirty="0" err="1"/>
              <a:t>pizza_size</a:t>
            </a:r>
            <a:endParaRPr lang="en-US" dirty="0"/>
          </a:p>
          <a:p>
            <a:r>
              <a:rPr lang="en-US" dirty="0"/>
              <a:t>),</a:t>
            </a:r>
          </a:p>
          <a:p>
            <a:r>
              <a:rPr lang="en-US" dirty="0" err="1"/>
              <a:t>BY_Quantity_Sold</a:t>
            </a:r>
            <a:r>
              <a:rPr lang="en-US" dirty="0"/>
              <a:t> AS (</a:t>
            </a:r>
          </a:p>
          <a:p>
            <a:r>
              <a:rPr lang="en-US" dirty="0"/>
              <a:t>SELECT</a:t>
            </a:r>
          </a:p>
          <a:p>
            <a:r>
              <a:rPr lang="en-US" dirty="0"/>
              <a:t>COUNT(DISTINCT </a:t>
            </a:r>
            <a:r>
              <a:rPr lang="en-US" dirty="0" err="1"/>
              <a:t>order_id</a:t>
            </a:r>
            <a:r>
              <a:rPr lang="en-US" dirty="0"/>
              <a:t>) AS </a:t>
            </a:r>
            <a:r>
              <a:rPr lang="en-US" dirty="0" err="1"/>
              <a:t>Total_Orders</a:t>
            </a:r>
            <a:r>
              <a:rPr lang="en-US" dirty="0"/>
              <a:t>,</a:t>
            </a:r>
          </a:p>
          <a:p>
            <a:r>
              <a:rPr lang="en-US" dirty="0" err="1"/>
              <a:t>pizza_size</a:t>
            </a:r>
            <a:r>
              <a:rPr lang="en-US" dirty="0"/>
              <a:t>,</a:t>
            </a:r>
          </a:p>
          <a:p>
            <a:r>
              <a:rPr lang="en-US" dirty="0"/>
              <a:t>RANK() OVER(ORDER BY COUNT(DISTINCT </a:t>
            </a:r>
            <a:r>
              <a:rPr lang="en-US" dirty="0" err="1"/>
              <a:t>order_id</a:t>
            </a:r>
            <a:r>
              <a:rPr lang="en-US" dirty="0"/>
              <a:t>) DESC) AS </a:t>
            </a:r>
            <a:r>
              <a:rPr lang="en-US" dirty="0" err="1"/>
              <a:t>Quantity_Rank</a:t>
            </a:r>
            <a:endParaRPr lang="en-US" dirty="0"/>
          </a:p>
          <a:p>
            <a:r>
              <a:rPr lang="en-US" dirty="0"/>
              <a:t>FROM </a:t>
            </a:r>
            <a:r>
              <a:rPr lang="en-US" dirty="0" err="1"/>
              <a:t>delicious_pizza_analytics_table</a:t>
            </a:r>
            <a:endParaRPr lang="en-US" dirty="0"/>
          </a:p>
          <a:p>
            <a:r>
              <a:rPr lang="en-US" dirty="0"/>
              <a:t>GROUP BY </a:t>
            </a:r>
            <a:r>
              <a:rPr lang="en-US" dirty="0" err="1"/>
              <a:t>pizza_size</a:t>
            </a:r>
            <a:endParaRPr lang="en-US" dirty="0"/>
          </a:p>
          <a:p>
            <a:r>
              <a:rPr lang="en-US" dirty="0"/>
              <a:t>)</a:t>
            </a:r>
          </a:p>
          <a:p>
            <a:endParaRPr lang="en-US" dirty="0"/>
          </a:p>
        </p:txBody>
      </p:sp>
      <p:sp>
        <p:nvSpPr>
          <p:cNvPr id="4" name="Content Placeholder 3">
            <a:extLst>
              <a:ext uri="{FF2B5EF4-FFF2-40B4-BE49-F238E27FC236}">
                <a16:creationId xmlns:a16="http://schemas.microsoft.com/office/drawing/2014/main" id="{F03B93CA-4BEB-9FFB-26AE-A3EE5CD2C9A6}"/>
              </a:ext>
            </a:extLst>
          </p:cNvPr>
          <p:cNvSpPr>
            <a:spLocks noGrp="1"/>
          </p:cNvSpPr>
          <p:nvPr>
            <p:ph sz="half" idx="2"/>
          </p:nvPr>
        </p:nvSpPr>
        <p:spPr/>
        <p:txBody>
          <a:bodyPr>
            <a:normAutofit fontScale="40000" lnSpcReduction="20000"/>
          </a:bodyPr>
          <a:lstStyle/>
          <a:p>
            <a:r>
              <a:rPr lang="en-US" sz="4500" dirty="0"/>
              <a:t>SELECT</a:t>
            </a:r>
          </a:p>
          <a:p>
            <a:r>
              <a:rPr lang="en-US" sz="4500" dirty="0" err="1"/>
              <a:t>br.pizza_size</a:t>
            </a:r>
            <a:r>
              <a:rPr lang="en-US" sz="4500" dirty="0"/>
              <a:t>,</a:t>
            </a:r>
          </a:p>
          <a:p>
            <a:r>
              <a:rPr lang="en-US" sz="4500" dirty="0" err="1"/>
              <a:t>br.Total_Revenue</a:t>
            </a:r>
            <a:r>
              <a:rPr lang="en-US" sz="4500" dirty="0"/>
              <a:t>,</a:t>
            </a:r>
          </a:p>
          <a:p>
            <a:r>
              <a:rPr lang="en-US" sz="4500" dirty="0" err="1"/>
              <a:t>qs.pizza_size</a:t>
            </a:r>
            <a:r>
              <a:rPr lang="en-US" sz="4500" dirty="0"/>
              <a:t>,</a:t>
            </a:r>
          </a:p>
          <a:p>
            <a:r>
              <a:rPr lang="en-US" sz="4500" dirty="0" err="1"/>
              <a:t>qs.Total_Orders</a:t>
            </a:r>
            <a:endParaRPr lang="en-US" sz="4500" dirty="0"/>
          </a:p>
          <a:p>
            <a:r>
              <a:rPr lang="en-US" sz="4500" dirty="0"/>
              <a:t>FROM </a:t>
            </a:r>
            <a:r>
              <a:rPr lang="en-US" sz="4500" dirty="0" err="1"/>
              <a:t>BY_Revenue</a:t>
            </a:r>
            <a:r>
              <a:rPr lang="en-US" sz="4500" dirty="0"/>
              <a:t> </a:t>
            </a:r>
            <a:r>
              <a:rPr lang="en-US" sz="4500" dirty="0" err="1"/>
              <a:t>br</a:t>
            </a:r>
            <a:endParaRPr lang="en-US" sz="4500" dirty="0"/>
          </a:p>
          <a:p>
            <a:r>
              <a:rPr lang="en-US" sz="4500" dirty="0"/>
              <a:t>JOIN </a:t>
            </a:r>
            <a:r>
              <a:rPr lang="en-US" sz="4500" dirty="0" err="1"/>
              <a:t>BY_Quantity_Sold</a:t>
            </a:r>
            <a:r>
              <a:rPr lang="en-US" sz="4500" dirty="0"/>
              <a:t> </a:t>
            </a:r>
            <a:r>
              <a:rPr lang="en-US" sz="4500" dirty="0" err="1"/>
              <a:t>qs</a:t>
            </a:r>
            <a:endParaRPr lang="en-US" sz="4500" dirty="0"/>
          </a:p>
          <a:p>
            <a:r>
              <a:rPr lang="en-US" sz="4500" dirty="0"/>
              <a:t>ON </a:t>
            </a:r>
            <a:r>
              <a:rPr lang="en-US" sz="4500" dirty="0" err="1"/>
              <a:t>br.Revenue_Rank</a:t>
            </a:r>
            <a:r>
              <a:rPr lang="en-US" sz="4500" dirty="0"/>
              <a:t>=1 AND </a:t>
            </a:r>
            <a:r>
              <a:rPr lang="en-US" sz="4500" dirty="0" err="1"/>
              <a:t>qs.Quantity_Rank</a:t>
            </a:r>
            <a:r>
              <a:rPr lang="en-US" sz="4500" dirty="0"/>
              <a:t>=1;</a:t>
            </a:r>
          </a:p>
          <a:p>
            <a:endParaRPr lang="en-US" dirty="0"/>
          </a:p>
        </p:txBody>
      </p:sp>
      <p:pic>
        <p:nvPicPr>
          <p:cNvPr id="5" name="Picture 4">
            <a:extLst>
              <a:ext uri="{FF2B5EF4-FFF2-40B4-BE49-F238E27FC236}">
                <a16:creationId xmlns:a16="http://schemas.microsoft.com/office/drawing/2014/main" id="{45EEF7C7-B548-693F-6230-FECD8E5C0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4700" y="4561888"/>
            <a:ext cx="3527767" cy="1205865"/>
          </a:xfrm>
          <a:prstGeom prst="rect">
            <a:avLst/>
          </a:prstGeom>
        </p:spPr>
      </p:pic>
    </p:spTree>
    <p:extLst>
      <p:ext uri="{BB962C8B-B14F-4D97-AF65-F5344CB8AC3E}">
        <p14:creationId xmlns:p14="http://schemas.microsoft.com/office/powerpoint/2010/main" val="873368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10199-1E13-BC2D-A1E4-A15120B96A26}"/>
              </a:ext>
            </a:extLst>
          </p:cNvPr>
          <p:cNvSpPr>
            <a:spLocks noGrp="1"/>
          </p:cNvSpPr>
          <p:nvPr>
            <p:ph type="title"/>
          </p:nvPr>
        </p:nvSpPr>
        <p:spPr/>
        <p:txBody>
          <a:bodyPr/>
          <a:lstStyle/>
          <a:p>
            <a:r>
              <a:rPr lang="en-US" dirty="0"/>
              <a:t>category with the highest average unit price</a:t>
            </a:r>
          </a:p>
        </p:txBody>
      </p:sp>
      <p:sp>
        <p:nvSpPr>
          <p:cNvPr id="3" name="Content Placeholder 2">
            <a:extLst>
              <a:ext uri="{FF2B5EF4-FFF2-40B4-BE49-F238E27FC236}">
                <a16:creationId xmlns:a16="http://schemas.microsoft.com/office/drawing/2014/main" id="{CF14D95E-4884-FC85-DEBA-BB9D24DDF002}"/>
              </a:ext>
            </a:extLst>
          </p:cNvPr>
          <p:cNvSpPr>
            <a:spLocks noGrp="1"/>
          </p:cNvSpPr>
          <p:nvPr>
            <p:ph idx="1"/>
          </p:nvPr>
        </p:nvSpPr>
        <p:spPr/>
        <p:txBody>
          <a:bodyPr/>
          <a:lstStyle/>
          <a:p>
            <a:r>
              <a:rPr lang="en-US" sz="1800" dirty="0"/>
              <a:t>SELECT</a:t>
            </a:r>
          </a:p>
          <a:p>
            <a:r>
              <a:rPr lang="en-US" sz="1800" dirty="0"/>
              <a:t>AVG(</a:t>
            </a:r>
            <a:r>
              <a:rPr lang="en-US" sz="1800" dirty="0" err="1"/>
              <a:t>unit_price</a:t>
            </a:r>
            <a:r>
              <a:rPr lang="en-US" sz="1800" dirty="0"/>
              <a:t>) AS </a:t>
            </a:r>
            <a:r>
              <a:rPr lang="en-US" sz="1800" dirty="0" err="1"/>
              <a:t>Average_Unit_Price</a:t>
            </a:r>
            <a:r>
              <a:rPr lang="en-US" sz="1800" dirty="0"/>
              <a:t>,</a:t>
            </a:r>
          </a:p>
          <a:p>
            <a:r>
              <a:rPr lang="en-US" sz="1800" dirty="0" err="1"/>
              <a:t>pizza_category</a:t>
            </a:r>
            <a:endParaRPr lang="en-US" sz="1800" dirty="0"/>
          </a:p>
          <a:p>
            <a:r>
              <a:rPr lang="en-US" sz="1800" dirty="0"/>
              <a:t>FROM </a:t>
            </a:r>
            <a:r>
              <a:rPr lang="en-US" sz="1800" dirty="0" err="1"/>
              <a:t>delicious_pizza_analytics_table</a:t>
            </a:r>
            <a:endParaRPr lang="en-US" sz="1800" dirty="0"/>
          </a:p>
          <a:p>
            <a:r>
              <a:rPr lang="en-US" sz="1800" dirty="0"/>
              <a:t>GROUP BY </a:t>
            </a:r>
            <a:r>
              <a:rPr lang="en-US" sz="1800" dirty="0" err="1"/>
              <a:t>pizza_category</a:t>
            </a:r>
            <a:endParaRPr lang="en-US" sz="1800" dirty="0"/>
          </a:p>
          <a:p>
            <a:r>
              <a:rPr lang="en-US" sz="1800" dirty="0"/>
              <a:t>ORDER BY </a:t>
            </a:r>
            <a:r>
              <a:rPr lang="en-US" sz="1800" dirty="0" err="1"/>
              <a:t>Average_Unit_Price</a:t>
            </a:r>
            <a:r>
              <a:rPr lang="en-US" sz="1800" dirty="0"/>
              <a:t> DESC</a:t>
            </a:r>
          </a:p>
          <a:p>
            <a:r>
              <a:rPr lang="en-US" sz="1800" dirty="0"/>
              <a:t>LIMIT 1;</a:t>
            </a:r>
          </a:p>
          <a:p>
            <a:endParaRPr lang="en-US" dirty="0"/>
          </a:p>
        </p:txBody>
      </p:sp>
      <p:pic>
        <p:nvPicPr>
          <p:cNvPr id="4" name="Picture 3">
            <a:extLst>
              <a:ext uri="{FF2B5EF4-FFF2-40B4-BE49-F238E27FC236}">
                <a16:creationId xmlns:a16="http://schemas.microsoft.com/office/drawing/2014/main" id="{14A1840B-8596-45EE-66CA-CE0C6EC081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103" y="4628271"/>
            <a:ext cx="3260408" cy="1548691"/>
          </a:xfrm>
          <a:prstGeom prst="rect">
            <a:avLst/>
          </a:prstGeom>
        </p:spPr>
      </p:pic>
    </p:spTree>
    <p:extLst>
      <p:ext uri="{BB962C8B-B14F-4D97-AF65-F5344CB8AC3E}">
        <p14:creationId xmlns:p14="http://schemas.microsoft.com/office/powerpoint/2010/main" val="2753141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B5062-3AC6-A46F-6AA9-0E809CFEBD8C}"/>
              </a:ext>
            </a:extLst>
          </p:cNvPr>
          <p:cNvSpPr>
            <a:spLocks noGrp="1"/>
          </p:cNvSpPr>
          <p:nvPr>
            <p:ph type="title"/>
          </p:nvPr>
        </p:nvSpPr>
        <p:spPr/>
        <p:txBody>
          <a:bodyPr/>
          <a:lstStyle/>
          <a:p>
            <a:r>
              <a:rPr lang="en-US" b="1" u="sng" dirty="0">
                <a:highlight>
                  <a:srgbClr val="00FFFF"/>
                </a:highlight>
              </a:rPr>
              <a:t>Category &amp; Size Analysis Summary</a:t>
            </a:r>
            <a:endParaRPr lang="en-US" dirty="0">
              <a:highlight>
                <a:srgbClr val="00FFFF"/>
              </a:highlight>
            </a:endParaRPr>
          </a:p>
        </p:txBody>
      </p:sp>
      <p:sp>
        <p:nvSpPr>
          <p:cNvPr id="3" name="Content Placeholder 2">
            <a:extLst>
              <a:ext uri="{FF2B5EF4-FFF2-40B4-BE49-F238E27FC236}">
                <a16:creationId xmlns:a16="http://schemas.microsoft.com/office/drawing/2014/main" id="{3516A867-36DB-08F0-6151-081406B57E88}"/>
              </a:ext>
            </a:extLst>
          </p:cNvPr>
          <p:cNvSpPr>
            <a:spLocks noGrp="1"/>
          </p:cNvSpPr>
          <p:nvPr>
            <p:ph idx="1"/>
          </p:nvPr>
        </p:nvSpPr>
        <p:spPr/>
        <p:txBody>
          <a:bodyPr>
            <a:normAutofit fontScale="62500" lnSpcReduction="20000"/>
          </a:bodyPr>
          <a:lstStyle/>
          <a:p>
            <a:r>
              <a:rPr lang="en-US" dirty="0"/>
              <a:t>Delicious Pizza offers pizzas across four categories and the sales distribution is </a:t>
            </a:r>
            <a:r>
              <a:rPr lang="en-US" b="1" dirty="0"/>
              <a:t>remarkably balanced</a:t>
            </a:r>
            <a:r>
              <a:rPr lang="en-US" dirty="0"/>
              <a:t>. The </a:t>
            </a:r>
            <a:r>
              <a:rPr lang="en-US" b="1" dirty="0"/>
              <a:t>Classic category</a:t>
            </a:r>
            <a:r>
              <a:rPr lang="en-US" dirty="0"/>
              <a:t> leads with </a:t>
            </a:r>
            <a:r>
              <a:rPr lang="en-US" b="1" dirty="0"/>
              <a:t>26.90%</a:t>
            </a:r>
            <a:r>
              <a:rPr lang="en-US" dirty="0"/>
              <a:t> of total sales while the </a:t>
            </a:r>
            <a:r>
              <a:rPr lang="en-US" b="1" dirty="0"/>
              <a:t>Veggie category</a:t>
            </a:r>
            <a:r>
              <a:rPr lang="en-US" dirty="0"/>
              <a:t> records the lowest contribution at </a:t>
            </a:r>
            <a:r>
              <a:rPr lang="en-US" b="1" dirty="0"/>
              <a:t>23.68%</a:t>
            </a:r>
            <a:r>
              <a:rPr lang="en-US" dirty="0"/>
              <a:t>. The gap between the highest and lowest performing category is only </a:t>
            </a:r>
            <a:r>
              <a:rPr lang="en-US" b="1" dirty="0"/>
              <a:t>3.22 percentage points</a:t>
            </a:r>
            <a:r>
              <a:rPr lang="en-US" dirty="0"/>
              <a:t>, which indicates that customer demand is spread evenly across the menu rather than being concentrated in one area. This is a healthy sign for the business as it reduces dependency on any single category and suggests the menu is well designed to appeal to a broad range of customer preferences.</a:t>
            </a:r>
          </a:p>
          <a:p>
            <a:r>
              <a:rPr lang="en-US" dirty="0"/>
              <a:t>From a size perspective, the data tells a clear and decisive story  </a:t>
            </a:r>
            <a:r>
              <a:rPr lang="en-US" b="1" dirty="0"/>
              <a:t>Large pizzas dominate</a:t>
            </a:r>
            <a:r>
              <a:rPr lang="en-US" dirty="0"/>
              <a:t>. With </a:t>
            </a:r>
            <a:r>
              <a:rPr lang="en-US" b="1" dirty="0"/>
              <a:t>12,736 orders</a:t>
            </a:r>
            <a:r>
              <a:rPr lang="en-US" dirty="0"/>
              <a:t>, Large accounts for </a:t>
            </a:r>
            <a:r>
              <a:rPr lang="en-US" b="1" dirty="0"/>
              <a:t>59.65% of all orders placed</a:t>
            </a:r>
            <a:r>
              <a:rPr lang="en-US" dirty="0"/>
              <a:t> and generates the highest revenue among all sizes at </a:t>
            </a:r>
            <a:r>
              <a:rPr lang="en-US" b="1" dirty="0"/>
              <a:t>$375,318.70</a:t>
            </a:r>
            <a:r>
              <a:rPr lang="en-US" dirty="0"/>
              <a:t>. This pattern holds consistently across both volume and revenue metrics, confirming that customers have a strong and deliberate preference for Large pizzas. This presents a direct upselling opportunity — customers ordering Medium pizzas should be encouraged by staff or prompted digitally to upgrade to Large, as the incremental price difference is likely small relative to the perceived value gain for the customer.</a:t>
            </a:r>
          </a:p>
          <a:p>
            <a:r>
              <a:rPr lang="en-US" dirty="0"/>
              <a:t>On pricing, the </a:t>
            </a:r>
            <a:r>
              <a:rPr lang="en-US" b="1" dirty="0"/>
              <a:t>Chicken category carries the highest average unit price at $17.70</a:t>
            </a:r>
            <a:r>
              <a:rPr lang="en-US" dirty="0"/>
              <a:t>, reflecting the premium cost of chicken-based ingredients relative to Classic or Veggie options. Despite being the most expensive category on average, if Chicken pizzas maintain strong sales volume it signals that customers perceive good value at that price point. The business should protect the Chicken category's pricing integrity and resist discounting it, as doing so could undermine its premium positioning while only marginally boosting short term volume.</a:t>
            </a:r>
          </a:p>
          <a:p>
            <a:endParaRPr lang="en-US" dirty="0"/>
          </a:p>
        </p:txBody>
      </p:sp>
    </p:spTree>
    <p:extLst>
      <p:ext uri="{BB962C8B-B14F-4D97-AF65-F5344CB8AC3E}">
        <p14:creationId xmlns:p14="http://schemas.microsoft.com/office/powerpoint/2010/main" val="1616548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6C19-EA8F-B705-577F-295909C04111}"/>
              </a:ext>
            </a:extLst>
          </p:cNvPr>
          <p:cNvSpPr>
            <a:spLocks noGrp="1"/>
          </p:cNvSpPr>
          <p:nvPr>
            <p:ph type="title"/>
          </p:nvPr>
        </p:nvSpPr>
        <p:spPr/>
        <p:txBody>
          <a:bodyPr>
            <a:normAutofit/>
          </a:bodyPr>
          <a:lstStyle/>
          <a:p>
            <a:r>
              <a:rPr lang="en-US" dirty="0">
                <a:highlight>
                  <a:srgbClr val="000080"/>
                </a:highlight>
              </a:rPr>
              <a:t>Ingredient Intelligence</a:t>
            </a:r>
            <a:br>
              <a:rPr lang="en-US" sz="2000" dirty="0"/>
            </a:br>
            <a:r>
              <a:rPr lang="en-US" sz="2000" dirty="0">
                <a:highlight>
                  <a:srgbClr val="00FFFF"/>
                </a:highlight>
              </a:rPr>
              <a:t>The top 10 most frequently used ingredients across all pizzas sold </a:t>
            </a:r>
          </a:p>
        </p:txBody>
      </p:sp>
      <p:sp>
        <p:nvSpPr>
          <p:cNvPr id="3" name="Content Placeholder 2">
            <a:extLst>
              <a:ext uri="{FF2B5EF4-FFF2-40B4-BE49-F238E27FC236}">
                <a16:creationId xmlns:a16="http://schemas.microsoft.com/office/drawing/2014/main" id="{FF5589E9-F0C6-F70E-8FB2-D1DCE895CE2C}"/>
              </a:ext>
            </a:extLst>
          </p:cNvPr>
          <p:cNvSpPr>
            <a:spLocks noGrp="1"/>
          </p:cNvSpPr>
          <p:nvPr>
            <p:ph sz="half" idx="1"/>
          </p:nvPr>
        </p:nvSpPr>
        <p:spPr/>
        <p:txBody>
          <a:bodyPr>
            <a:normAutofit fontScale="55000" lnSpcReduction="20000"/>
          </a:bodyPr>
          <a:lstStyle/>
          <a:p>
            <a:r>
              <a:rPr lang="en-US" dirty="0"/>
              <a:t>WITH Exploded AS (</a:t>
            </a:r>
          </a:p>
          <a:p>
            <a:r>
              <a:rPr lang="en-US" dirty="0"/>
              <a:t>    SELECT</a:t>
            </a:r>
          </a:p>
          <a:p>
            <a:r>
              <a:rPr lang="en-US" dirty="0"/>
              <a:t>        TRIM(</a:t>
            </a:r>
            <a:r>
              <a:rPr lang="en-US" dirty="0" err="1"/>
              <a:t>ingredient.value</a:t>
            </a:r>
            <a:r>
              <a:rPr lang="en-US" dirty="0"/>
              <a:t>) AS </a:t>
            </a:r>
            <a:r>
              <a:rPr lang="en-US" dirty="0" err="1"/>
              <a:t>Single_Ingredient</a:t>
            </a:r>
            <a:r>
              <a:rPr lang="en-US" dirty="0"/>
              <a:t>,</a:t>
            </a:r>
          </a:p>
          <a:p>
            <a:r>
              <a:rPr lang="en-US" dirty="0"/>
              <a:t>        quantity</a:t>
            </a:r>
          </a:p>
          <a:p>
            <a:r>
              <a:rPr lang="en-US" dirty="0"/>
              <a:t>    FROM </a:t>
            </a:r>
            <a:r>
              <a:rPr lang="en-US" dirty="0" err="1"/>
              <a:t>delicious_pizza_analytics_table</a:t>
            </a:r>
            <a:r>
              <a:rPr lang="en-US" dirty="0"/>
              <a:t>,</a:t>
            </a:r>
          </a:p>
          <a:p>
            <a:r>
              <a:rPr lang="en-US" dirty="0"/>
              <a:t>    JSON_TABLE(</a:t>
            </a:r>
          </a:p>
          <a:p>
            <a:r>
              <a:rPr lang="en-US" dirty="0"/>
              <a:t>        CONCAT('["', REPLACE(</a:t>
            </a:r>
            <a:r>
              <a:rPr lang="en-US" dirty="0" err="1"/>
              <a:t>pizza_ingredients</a:t>
            </a:r>
            <a:r>
              <a:rPr lang="en-US" dirty="0"/>
              <a:t>, ', ', '","'), '"]'),</a:t>
            </a:r>
          </a:p>
          <a:p>
            <a:r>
              <a:rPr lang="en-US" dirty="0"/>
              <a:t>        '$[*]' COLUMNS (value VARCHAR(100) PATH '$')</a:t>
            </a:r>
          </a:p>
          <a:p>
            <a:r>
              <a:rPr lang="en-US" dirty="0"/>
              <a:t>    ) AS ingredient</a:t>
            </a:r>
          </a:p>
          <a:p>
            <a:r>
              <a:rPr lang="en-US" dirty="0"/>
              <a:t>)</a:t>
            </a:r>
          </a:p>
          <a:p>
            <a:r>
              <a:rPr lang="en-US" dirty="0"/>
              <a:t>SELECT</a:t>
            </a:r>
          </a:p>
          <a:p>
            <a:r>
              <a:rPr lang="en-US" dirty="0"/>
              <a:t>    </a:t>
            </a:r>
            <a:r>
              <a:rPr lang="en-US" dirty="0" err="1"/>
              <a:t>Single_Ingredient</a:t>
            </a:r>
            <a:r>
              <a:rPr lang="en-US" dirty="0"/>
              <a:t>,</a:t>
            </a:r>
          </a:p>
          <a:p>
            <a:r>
              <a:rPr lang="en-US" dirty="0"/>
              <a:t>    SUM(quantity) AS </a:t>
            </a:r>
            <a:r>
              <a:rPr lang="en-US" dirty="0" err="1"/>
              <a:t>Total_Times_Used</a:t>
            </a:r>
            <a:endParaRPr lang="en-US" dirty="0"/>
          </a:p>
          <a:p>
            <a:endParaRPr lang="en-US" dirty="0"/>
          </a:p>
        </p:txBody>
      </p:sp>
      <p:sp>
        <p:nvSpPr>
          <p:cNvPr id="9" name="Content Placeholder 8">
            <a:extLst>
              <a:ext uri="{FF2B5EF4-FFF2-40B4-BE49-F238E27FC236}">
                <a16:creationId xmlns:a16="http://schemas.microsoft.com/office/drawing/2014/main" id="{CD1F5BC1-3FE0-BC36-051B-6AA1A4318C85}"/>
              </a:ext>
            </a:extLst>
          </p:cNvPr>
          <p:cNvSpPr>
            <a:spLocks noGrp="1"/>
          </p:cNvSpPr>
          <p:nvPr>
            <p:ph sz="half" idx="2"/>
          </p:nvPr>
        </p:nvSpPr>
        <p:spPr/>
        <p:txBody>
          <a:bodyPr>
            <a:normAutofit fontScale="55000" lnSpcReduction="20000"/>
          </a:bodyPr>
          <a:lstStyle/>
          <a:p>
            <a:r>
              <a:rPr lang="en-US" sz="2900" dirty="0"/>
              <a:t>FROM Exploded</a:t>
            </a:r>
          </a:p>
          <a:p>
            <a:r>
              <a:rPr lang="en-US" sz="2900" dirty="0"/>
              <a:t>GROUP BY </a:t>
            </a:r>
            <a:r>
              <a:rPr lang="en-US" sz="2900" dirty="0" err="1"/>
              <a:t>Single_Ingredient</a:t>
            </a:r>
            <a:endParaRPr lang="en-US" sz="2900" dirty="0"/>
          </a:p>
          <a:p>
            <a:r>
              <a:rPr lang="en-US" sz="2900" dirty="0"/>
              <a:t>ORDER BY </a:t>
            </a:r>
            <a:r>
              <a:rPr lang="en-US" sz="2900" dirty="0" err="1"/>
              <a:t>Total_Times_Used</a:t>
            </a:r>
            <a:r>
              <a:rPr lang="en-US" sz="2900" dirty="0"/>
              <a:t> DESC</a:t>
            </a:r>
          </a:p>
          <a:p>
            <a:r>
              <a:rPr lang="en-US" sz="2900" dirty="0"/>
              <a:t>LIMIT 10;</a:t>
            </a:r>
          </a:p>
          <a:p>
            <a:endParaRPr lang="en-US" sz="1200" dirty="0"/>
          </a:p>
        </p:txBody>
      </p:sp>
      <p:pic>
        <p:nvPicPr>
          <p:cNvPr id="10" name="Picture 9">
            <a:extLst>
              <a:ext uri="{FF2B5EF4-FFF2-40B4-BE49-F238E27FC236}">
                <a16:creationId xmlns:a16="http://schemas.microsoft.com/office/drawing/2014/main" id="{7BE1BF01-187D-4CEE-DD84-CE2B5197FF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2452" y="3010486"/>
            <a:ext cx="3077307" cy="3166477"/>
          </a:xfrm>
          <a:prstGeom prst="rect">
            <a:avLst/>
          </a:prstGeom>
        </p:spPr>
      </p:pic>
    </p:spTree>
    <p:extLst>
      <p:ext uri="{BB962C8B-B14F-4D97-AF65-F5344CB8AC3E}">
        <p14:creationId xmlns:p14="http://schemas.microsoft.com/office/powerpoint/2010/main" val="2668555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FB96-6DCB-2501-94E3-51F3E798B5B4}"/>
              </a:ext>
            </a:extLst>
          </p:cNvPr>
          <p:cNvSpPr>
            <a:spLocks noGrp="1"/>
          </p:cNvSpPr>
          <p:nvPr>
            <p:ph type="title"/>
          </p:nvPr>
        </p:nvSpPr>
        <p:spPr/>
        <p:txBody>
          <a:bodyPr/>
          <a:lstStyle/>
          <a:p>
            <a:r>
              <a:rPr lang="en-US" dirty="0">
                <a:highlight>
                  <a:srgbClr val="00FFFF"/>
                </a:highlight>
              </a:rPr>
              <a:t>Ingredients that appear exclusively in low-selling pizzas</a:t>
            </a:r>
          </a:p>
        </p:txBody>
      </p:sp>
      <p:sp>
        <p:nvSpPr>
          <p:cNvPr id="3" name="Content Placeholder 2">
            <a:extLst>
              <a:ext uri="{FF2B5EF4-FFF2-40B4-BE49-F238E27FC236}">
                <a16:creationId xmlns:a16="http://schemas.microsoft.com/office/drawing/2014/main" id="{C34305D2-8F7C-289E-A15A-3399C1C97670}"/>
              </a:ext>
            </a:extLst>
          </p:cNvPr>
          <p:cNvSpPr>
            <a:spLocks noGrp="1"/>
          </p:cNvSpPr>
          <p:nvPr>
            <p:ph sz="half" idx="1"/>
          </p:nvPr>
        </p:nvSpPr>
        <p:spPr/>
        <p:txBody>
          <a:bodyPr>
            <a:normAutofit fontScale="47500" lnSpcReduction="20000"/>
          </a:bodyPr>
          <a:lstStyle/>
          <a:p>
            <a:r>
              <a:rPr lang="en-US" dirty="0"/>
              <a:t>WITH </a:t>
            </a:r>
            <a:r>
              <a:rPr lang="en-US" dirty="0" err="1"/>
              <a:t>Pizza_Sales</a:t>
            </a:r>
            <a:r>
              <a:rPr lang="en-US" dirty="0"/>
              <a:t> AS (</a:t>
            </a:r>
          </a:p>
          <a:p>
            <a:r>
              <a:rPr lang="en-US" dirty="0"/>
              <a:t>    SELECT</a:t>
            </a:r>
          </a:p>
          <a:p>
            <a:r>
              <a:rPr lang="en-US" dirty="0"/>
              <a:t>        </a:t>
            </a:r>
            <a:r>
              <a:rPr lang="en-US" dirty="0" err="1"/>
              <a:t>pizza_name</a:t>
            </a:r>
            <a:r>
              <a:rPr lang="en-US" dirty="0"/>
              <a:t>,</a:t>
            </a:r>
          </a:p>
          <a:p>
            <a:r>
              <a:rPr lang="en-US" dirty="0"/>
              <a:t>        SUM(quantity) AS </a:t>
            </a:r>
            <a:r>
              <a:rPr lang="en-US" dirty="0" err="1"/>
              <a:t>Total_Quantity</a:t>
            </a:r>
            <a:endParaRPr lang="en-US" dirty="0"/>
          </a:p>
          <a:p>
            <a:r>
              <a:rPr lang="en-US" dirty="0"/>
              <a:t>    FROM </a:t>
            </a:r>
            <a:r>
              <a:rPr lang="en-US" dirty="0" err="1"/>
              <a:t>delicious_pizza_analytics_table</a:t>
            </a:r>
            <a:endParaRPr lang="en-US" dirty="0"/>
          </a:p>
          <a:p>
            <a:r>
              <a:rPr lang="en-US" dirty="0"/>
              <a:t>    GROUP BY </a:t>
            </a:r>
            <a:r>
              <a:rPr lang="en-US" dirty="0" err="1"/>
              <a:t>pizza_name</a:t>
            </a:r>
            <a:endParaRPr lang="en-US" dirty="0"/>
          </a:p>
          <a:p>
            <a:r>
              <a:rPr lang="en-US" dirty="0"/>
              <a:t>),</a:t>
            </a:r>
          </a:p>
          <a:p>
            <a:r>
              <a:rPr lang="en-US" dirty="0" err="1"/>
              <a:t>Low_Sellers</a:t>
            </a:r>
            <a:r>
              <a:rPr lang="en-US" dirty="0"/>
              <a:t> AS (</a:t>
            </a:r>
          </a:p>
          <a:p>
            <a:r>
              <a:rPr lang="en-US" dirty="0"/>
              <a:t>    SELECT </a:t>
            </a:r>
            <a:r>
              <a:rPr lang="en-US" dirty="0" err="1"/>
              <a:t>pizza_name</a:t>
            </a:r>
            <a:endParaRPr lang="en-US" dirty="0"/>
          </a:p>
          <a:p>
            <a:r>
              <a:rPr lang="en-US" dirty="0"/>
              <a:t>    FROM </a:t>
            </a:r>
            <a:r>
              <a:rPr lang="en-US" dirty="0" err="1"/>
              <a:t>Pizza_Sales</a:t>
            </a:r>
            <a:endParaRPr lang="en-US" dirty="0"/>
          </a:p>
          <a:p>
            <a:r>
              <a:rPr lang="en-US" dirty="0"/>
              <a:t>    ORDER BY </a:t>
            </a:r>
            <a:r>
              <a:rPr lang="en-US" dirty="0" err="1"/>
              <a:t>Total_Quantity</a:t>
            </a:r>
            <a:r>
              <a:rPr lang="en-US" dirty="0"/>
              <a:t> ASC</a:t>
            </a:r>
          </a:p>
          <a:p>
            <a:r>
              <a:rPr lang="en-US" dirty="0"/>
              <a:t>    LIMIT 5</a:t>
            </a:r>
          </a:p>
          <a:p>
            <a:r>
              <a:rPr lang="en-US" dirty="0"/>
              <a:t>),</a:t>
            </a:r>
          </a:p>
          <a:p>
            <a:endParaRPr lang="en-US" dirty="0"/>
          </a:p>
        </p:txBody>
      </p:sp>
      <p:sp>
        <p:nvSpPr>
          <p:cNvPr id="4" name="Content Placeholder 3">
            <a:extLst>
              <a:ext uri="{FF2B5EF4-FFF2-40B4-BE49-F238E27FC236}">
                <a16:creationId xmlns:a16="http://schemas.microsoft.com/office/drawing/2014/main" id="{0DAFE0F3-8B2B-746A-8438-5FB0438F0EFB}"/>
              </a:ext>
            </a:extLst>
          </p:cNvPr>
          <p:cNvSpPr>
            <a:spLocks noGrp="1"/>
          </p:cNvSpPr>
          <p:nvPr>
            <p:ph sz="half" idx="2"/>
          </p:nvPr>
        </p:nvSpPr>
        <p:spPr/>
        <p:txBody>
          <a:bodyPr>
            <a:normAutofit fontScale="47500" lnSpcReduction="20000"/>
          </a:bodyPr>
          <a:lstStyle/>
          <a:p>
            <a:r>
              <a:rPr lang="en-US" dirty="0" err="1"/>
              <a:t>All_Ingredients</a:t>
            </a:r>
            <a:r>
              <a:rPr lang="en-US" dirty="0"/>
              <a:t> AS (</a:t>
            </a:r>
          </a:p>
          <a:p>
            <a:r>
              <a:rPr lang="en-US" dirty="0"/>
              <a:t>    SELECT</a:t>
            </a:r>
          </a:p>
          <a:p>
            <a:r>
              <a:rPr lang="en-US" dirty="0"/>
              <a:t>        TRIM(</a:t>
            </a:r>
            <a:r>
              <a:rPr lang="en-US" dirty="0" err="1"/>
              <a:t>ingredient.value</a:t>
            </a:r>
            <a:r>
              <a:rPr lang="en-US" dirty="0"/>
              <a:t>) AS </a:t>
            </a:r>
            <a:r>
              <a:rPr lang="en-US" dirty="0" err="1"/>
              <a:t>Single_Ingredient</a:t>
            </a:r>
            <a:r>
              <a:rPr lang="en-US" dirty="0"/>
              <a:t>,</a:t>
            </a:r>
          </a:p>
          <a:p>
            <a:r>
              <a:rPr lang="en-US" dirty="0"/>
              <a:t>        </a:t>
            </a:r>
            <a:r>
              <a:rPr lang="en-US" dirty="0" err="1"/>
              <a:t>pizza_name</a:t>
            </a:r>
            <a:endParaRPr lang="en-US" dirty="0"/>
          </a:p>
          <a:p>
            <a:r>
              <a:rPr lang="en-US" dirty="0"/>
              <a:t>    FROM </a:t>
            </a:r>
            <a:r>
              <a:rPr lang="en-US" dirty="0" err="1"/>
              <a:t>delicious_pizza_analytics_table</a:t>
            </a:r>
            <a:r>
              <a:rPr lang="en-US" dirty="0"/>
              <a:t>,</a:t>
            </a:r>
          </a:p>
          <a:p>
            <a:r>
              <a:rPr lang="en-US" dirty="0"/>
              <a:t>    JSON_TABLE(</a:t>
            </a:r>
          </a:p>
          <a:p>
            <a:r>
              <a:rPr lang="en-US" dirty="0"/>
              <a:t>        CONCAT('["', REPLACE(</a:t>
            </a:r>
            <a:r>
              <a:rPr lang="en-US" dirty="0" err="1"/>
              <a:t>pizza_ingredients</a:t>
            </a:r>
            <a:r>
              <a:rPr lang="en-US" dirty="0"/>
              <a:t>, ', ', '","'), '"]'),</a:t>
            </a:r>
          </a:p>
          <a:p>
            <a:r>
              <a:rPr lang="en-US" dirty="0"/>
              <a:t>        '$[*]' COLUMNS (value VARCHAR(100) PATH '$')</a:t>
            </a:r>
          </a:p>
          <a:p>
            <a:r>
              <a:rPr lang="en-US" dirty="0"/>
              <a:t>    ) AS ingredient</a:t>
            </a:r>
          </a:p>
          <a:p>
            <a:r>
              <a:rPr lang="en-US" dirty="0"/>
              <a:t>    GROUP BY </a:t>
            </a:r>
            <a:r>
              <a:rPr lang="en-US" dirty="0" err="1"/>
              <a:t>Single_Ingredient</a:t>
            </a:r>
            <a:r>
              <a:rPr lang="en-US" dirty="0"/>
              <a:t>, </a:t>
            </a:r>
            <a:r>
              <a:rPr lang="en-US" dirty="0" err="1"/>
              <a:t>pizza_name</a:t>
            </a:r>
            <a:endParaRPr lang="en-US" dirty="0"/>
          </a:p>
          <a:p>
            <a:r>
              <a:rPr lang="en-US" dirty="0"/>
              <a:t>),</a:t>
            </a:r>
          </a:p>
          <a:p>
            <a:r>
              <a:rPr lang="en-US" dirty="0" err="1"/>
              <a:t>Low_Seller_Ingredients</a:t>
            </a:r>
            <a:r>
              <a:rPr lang="en-US" dirty="0"/>
              <a:t> AS (</a:t>
            </a:r>
          </a:p>
          <a:p>
            <a:r>
              <a:rPr lang="en-US" dirty="0"/>
              <a:t>    SELECT DISTINCT </a:t>
            </a:r>
            <a:r>
              <a:rPr lang="en-US" dirty="0" err="1"/>
              <a:t>ai.Single_Ingredient</a:t>
            </a:r>
            <a:endParaRPr lang="en-US" dirty="0"/>
          </a:p>
          <a:p>
            <a:r>
              <a:rPr lang="en-US" dirty="0"/>
              <a:t>    FROM </a:t>
            </a:r>
            <a:r>
              <a:rPr lang="en-US" dirty="0" err="1"/>
              <a:t>All_Ingredients</a:t>
            </a:r>
            <a:r>
              <a:rPr lang="en-US" dirty="0"/>
              <a:t> ai</a:t>
            </a:r>
          </a:p>
          <a:p>
            <a:r>
              <a:rPr lang="en-US" dirty="0"/>
              <a:t>    JOIN </a:t>
            </a:r>
            <a:r>
              <a:rPr lang="en-US" dirty="0" err="1"/>
              <a:t>Low_Sellers</a:t>
            </a:r>
            <a:r>
              <a:rPr lang="en-US" dirty="0"/>
              <a:t> ls ON </a:t>
            </a:r>
            <a:r>
              <a:rPr lang="en-US" dirty="0" err="1"/>
              <a:t>ai.pizza_name</a:t>
            </a:r>
            <a:r>
              <a:rPr lang="en-US" dirty="0"/>
              <a:t> = </a:t>
            </a:r>
            <a:r>
              <a:rPr lang="en-US" dirty="0" err="1"/>
              <a:t>ls.pizza_name</a:t>
            </a:r>
            <a:endParaRPr lang="en-US" dirty="0"/>
          </a:p>
          <a:p>
            <a:r>
              <a:rPr lang="en-US" dirty="0"/>
              <a:t>),</a:t>
            </a:r>
          </a:p>
          <a:p>
            <a:endParaRPr lang="en-US" dirty="0"/>
          </a:p>
        </p:txBody>
      </p:sp>
    </p:spTree>
    <p:extLst>
      <p:ext uri="{BB962C8B-B14F-4D97-AF65-F5344CB8AC3E}">
        <p14:creationId xmlns:p14="http://schemas.microsoft.com/office/powerpoint/2010/main" val="4791032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AEE45-344F-3B43-D91A-C11B818EF379}"/>
              </a:ext>
            </a:extLst>
          </p:cNvPr>
          <p:cNvSpPr>
            <a:spLocks noGrp="1"/>
          </p:cNvSpPr>
          <p:nvPr>
            <p:ph type="title"/>
          </p:nvPr>
        </p:nvSpPr>
        <p:spPr/>
        <p:txBody>
          <a:bodyPr/>
          <a:lstStyle/>
          <a:p>
            <a:r>
              <a:rPr lang="en-US" dirty="0">
                <a:highlight>
                  <a:srgbClr val="00FFFF"/>
                </a:highlight>
              </a:rPr>
              <a:t>Ingredients that appear exclusively in low-selling pizzas </a:t>
            </a:r>
            <a:endParaRPr lang="en-US" dirty="0"/>
          </a:p>
        </p:txBody>
      </p:sp>
      <p:sp>
        <p:nvSpPr>
          <p:cNvPr id="3" name="Content Placeholder 2">
            <a:extLst>
              <a:ext uri="{FF2B5EF4-FFF2-40B4-BE49-F238E27FC236}">
                <a16:creationId xmlns:a16="http://schemas.microsoft.com/office/drawing/2014/main" id="{DAD048E0-99DC-0956-2724-1D0749A79940}"/>
              </a:ext>
            </a:extLst>
          </p:cNvPr>
          <p:cNvSpPr>
            <a:spLocks noGrp="1"/>
          </p:cNvSpPr>
          <p:nvPr>
            <p:ph sz="half" idx="1"/>
          </p:nvPr>
        </p:nvSpPr>
        <p:spPr/>
        <p:txBody>
          <a:bodyPr>
            <a:normAutofit fontScale="70000" lnSpcReduction="20000"/>
          </a:bodyPr>
          <a:lstStyle/>
          <a:p>
            <a:r>
              <a:rPr lang="en-US" dirty="0" err="1"/>
              <a:t>High_Seller_Ingredients</a:t>
            </a:r>
            <a:r>
              <a:rPr lang="en-US" dirty="0"/>
              <a:t> AS (</a:t>
            </a:r>
          </a:p>
          <a:p>
            <a:r>
              <a:rPr lang="en-US" dirty="0"/>
              <a:t>    SELECT DISTINCT </a:t>
            </a:r>
            <a:r>
              <a:rPr lang="en-US" dirty="0" err="1"/>
              <a:t>ai.Single_Ingredient</a:t>
            </a:r>
            <a:endParaRPr lang="en-US" dirty="0"/>
          </a:p>
          <a:p>
            <a:r>
              <a:rPr lang="en-US" dirty="0"/>
              <a:t>    FROM </a:t>
            </a:r>
            <a:r>
              <a:rPr lang="en-US" dirty="0" err="1"/>
              <a:t>All_Ingredients</a:t>
            </a:r>
            <a:r>
              <a:rPr lang="en-US" dirty="0"/>
              <a:t> ai</a:t>
            </a:r>
          </a:p>
          <a:p>
            <a:r>
              <a:rPr lang="en-US" dirty="0"/>
              <a:t>    WHERE </a:t>
            </a:r>
            <a:r>
              <a:rPr lang="en-US" dirty="0" err="1"/>
              <a:t>ai.pizza_name</a:t>
            </a:r>
            <a:r>
              <a:rPr lang="en-US" dirty="0"/>
              <a:t> NOT IN (SELECT </a:t>
            </a:r>
            <a:r>
              <a:rPr lang="en-US" dirty="0" err="1"/>
              <a:t>pizza_name</a:t>
            </a:r>
            <a:r>
              <a:rPr lang="en-US" dirty="0"/>
              <a:t> FROM </a:t>
            </a:r>
            <a:r>
              <a:rPr lang="en-US" dirty="0" err="1"/>
              <a:t>Low_Sellers</a:t>
            </a:r>
            <a:r>
              <a:rPr lang="en-US" dirty="0"/>
              <a:t>)</a:t>
            </a:r>
          </a:p>
          <a:p>
            <a:r>
              <a:rPr lang="en-US" dirty="0"/>
              <a:t>)</a:t>
            </a:r>
          </a:p>
          <a:p>
            <a:r>
              <a:rPr lang="en-US" dirty="0"/>
              <a:t>SELECT</a:t>
            </a:r>
          </a:p>
          <a:p>
            <a:r>
              <a:rPr lang="en-US" dirty="0"/>
              <a:t>    </a:t>
            </a:r>
            <a:r>
              <a:rPr lang="en-US" dirty="0" err="1"/>
              <a:t>lsi.Single_Ingredient</a:t>
            </a:r>
            <a:r>
              <a:rPr lang="en-US" dirty="0"/>
              <a:t> AS </a:t>
            </a:r>
            <a:r>
              <a:rPr lang="en-US" dirty="0" err="1"/>
              <a:t>Exclusive_Low_Seller_Ingredient</a:t>
            </a:r>
            <a:endParaRPr lang="en-US" dirty="0"/>
          </a:p>
          <a:p>
            <a:r>
              <a:rPr lang="en-US" dirty="0"/>
              <a:t>FROM </a:t>
            </a:r>
            <a:r>
              <a:rPr lang="en-US" dirty="0" err="1"/>
              <a:t>Low_Seller_Ingredients</a:t>
            </a:r>
            <a:r>
              <a:rPr lang="en-US" dirty="0"/>
              <a:t> </a:t>
            </a:r>
            <a:r>
              <a:rPr lang="en-US" dirty="0" err="1"/>
              <a:t>lsi</a:t>
            </a:r>
            <a:endParaRPr lang="en-US" dirty="0"/>
          </a:p>
          <a:p>
            <a:r>
              <a:rPr lang="en-US" dirty="0"/>
              <a:t>LEFT JOIN </a:t>
            </a:r>
            <a:r>
              <a:rPr lang="en-US" dirty="0" err="1"/>
              <a:t>High_Seller_Ingredients</a:t>
            </a:r>
            <a:r>
              <a:rPr lang="en-US" dirty="0"/>
              <a:t> </a:t>
            </a:r>
            <a:r>
              <a:rPr lang="en-US" dirty="0" err="1"/>
              <a:t>hsi</a:t>
            </a:r>
            <a:endParaRPr lang="en-US" dirty="0"/>
          </a:p>
          <a:p>
            <a:r>
              <a:rPr lang="en-US" dirty="0"/>
              <a:t>    ON </a:t>
            </a:r>
            <a:r>
              <a:rPr lang="en-US" dirty="0" err="1"/>
              <a:t>lsi.Single_Ingredient</a:t>
            </a:r>
            <a:r>
              <a:rPr lang="en-US" dirty="0"/>
              <a:t> = </a:t>
            </a:r>
            <a:r>
              <a:rPr lang="en-US" dirty="0" err="1"/>
              <a:t>hsi.Single_Ingredient</a:t>
            </a:r>
            <a:endParaRPr lang="en-US" dirty="0"/>
          </a:p>
          <a:p>
            <a:r>
              <a:rPr lang="en-US" dirty="0"/>
              <a:t>WHERE </a:t>
            </a:r>
            <a:r>
              <a:rPr lang="en-US" dirty="0" err="1"/>
              <a:t>hsi.Single_Ingredient</a:t>
            </a:r>
            <a:r>
              <a:rPr lang="en-US" dirty="0"/>
              <a:t> IS NULL;</a:t>
            </a:r>
          </a:p>
          <a:p>
            <a:endParaRPr lang="en-US" dirty="0"/>
          </a:p>
        </p:txBody>
      </p:sp>
      <p:pic>
        <p:nvPicPr>
          <p:cNvPr id="5" name="Content Placeholder 4">
            <a:extLst>
              <a:ext uri="{FF2B5EF4-FFF2-40B4-BE49-F238E27FC236}">
                <a16:creationId xmlns:a16="http://schemas.microsoft.com/office/drawing/2014/main" id="{4C5E6217-94CF-16CE-7D3F-E527CD0F66E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54018" y="2025748"/>
            <a:ext cx="3085431" cy="3085363"/>
          </a:xfrm>
          <a:prstGeom prst="rect">
            <a:avLst/>
          </a:prstGeom>
        </p:spPr>
      </p:pic>
    </p:spTree>
    <p:extLst>
      <p:ext uri="{BB962C8B-B14F-4D97-AF65-F5344CB8AC3E}">
        <p14:creationId xmlns:p14="http://schemas.microsoft.com/office/powerpoint/2010/main" val="1553369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2C928-F309-BFF6-AEB3-A4381A426CC8}"/>
              </a:ext>
            </a:extLst>
          </p:cNvPr>
          <p:cNvSpPr>
            <a:spLocks noGrp="1"/>
          </p:cNvSpPr>
          <p:nvPr>
            <p:ph type="title"/>
          </p:nvPr>
        </p:nvSpPr>
        <p:spPr/>
        <p:txBody>
          <a:bodyPr/>
          <a:lstStyle/>
          <a:p>
            <a:r>
              <a:rPr lang="en-US" b="1" u="sng" dirty="0">
                <a:highlight>
                  <a:srgbClr val="00FFFF"/>
                </a:highlight>
              </a:rPr>
              <a:t>Ingredients Intelligence</a:t>
            </a:r>
            <a:br>
              <a:rPr lang="en-US" dirty="0"/>
            </a:br>
            <a:endParaRPr lang="en-US" dirty="0"/>
          </a:p>
        </p:txBody>
      </p:sp>
      <p:sp>
        <p:nvSpPr>
          <p:cNvPr id="3" name="Content Placeholder 2">
            <a:extLst>
              <a:ext uri="{FF2B5EF4-FFF2-40B4-BE49-F238E27FC236}">
                <a16:creationId xmlns:a16="http://schemas.microsoft.com/office/drawing/2014/main" id="{EF0CDB5C-6447-0D7F-BE87-7C6CE69AF562}"/>
              </a:ext>
            </a:extLst>
          </p:cNvPr>
          <p:cNvSpPr>
            <a:spLocks noGrp="1"/>
          </p:cNvSpPr>
          <p:nvPr>
            <p:ph idx="1"/>
          </p:nvPr>
        </p:nvSpPr>
        <p:spPr/>
        <p:txBody>
          <a:bodyPr>
            <a:normAutofit fontScale="62500" lnSpcReduction="20000"/>
          </a:bodyPr>
          <a:lstStyle/>
          <a:p>
            <a:r>
              <a:rPr lang="en-US" dirty="0"/>
              <a:t>A closer look at ingredient usage across all pizzas sold reveals clear patterns that carry direct implications for inventory management and menu strategy. </a:t>
            </a:r>
            <a:r>
              <a:rPr lang="en-US" b="1" dirty="0"/>
              <a:t>Garlic leads as the most used ingredient</a:t>
            </a:r>
            <a:r>
              <a:rPr lang="en-US" dirty="0"/>
              <a:t>, appearing across pizzas sold a weighted total of </a:t>
            </a:r>
            <a:r>
              <a:rPr lang="en-US" b="1" dirty="0"/>
              <a:t>27,913 times</a:t>
            </a:r>
            <a:r>
              <a:rPr lang="en-US" dirty="0"/>
              <a:t>, followed closely by </a:t>
            </a:r>
            <a:r>
              <a:rPr lang="en-US" b="1" dirty="0"/>
              <a:t>Tomatoes at 27,052</a:t>
            </a:r>
            <a:r>
              <a:rPr lang="en-US" dirty="0"/>
              <a:t>. These two ingredients form the flavor foundation of the majority of pizzas on the menu and their consistent high usage means any supply disruption for either would have a store wide impact. The top 10 most used ingredients in descending order are Garlic, Tomatoes, Red Onions, Red Peppers, Mozzarella Cheese, Pepperoni, Spinach, Mushrooms, Chicken, and Capocollo with usage values ranging from 27,913 down to 6,692. The business should ensure these ingredients are prioritized in procurement planning, with Garlic and Tomatoes treated as critical stock items that should never fall below a safe minimum threshold.</a:t>
            </a:r>
          </a:p>
          <a:p>
            <a:r>
              <a:rPr lang="en-US" dirty="0"/>
              <a:t>On the other end of the spectrum, several ingredients appear exclusively in low selling pizzas including Brie Carre Cheese, Prosciutto, Caramelized Onions, Pears, Thyme, Plum Tomatoes, Duja Salami, Pancetta, Friggitello Peppers, and </a:t>
            </a:r>
            <a:r>
              <a:rPr lang="en-US" dirty="0" err="1"/>
              <a:t>Soppressata</a:t>
            </a:r>
            <a:r>
              <a:rPr lang="en-US" dirty="0"/>
              <a:t> Salami. Before making any decision to remove these ingredients from procurement, the business should conduct a two-step evaluation. First, examine the revenue generated by the pizzas that use these ingredients to determine whether low sales volume is compensated by a high unit price. Second, examine the order frequency of those pizzas to determine whether they attract a small but loyal customer segment that would be lost if the product was removed. Only after both checks should a retirement decision be made. Ingredients that appear in pizzas with both low order counts and low revenue contribution represent the clearest candidates for removal, which would simplify the supply chain, reduce waste, and lower overall food costs without meaningfully impacting customer satisfaction.</a:t>
            </a:r>
          </a:p>
          <a:p>
            <a:r>
              <a:rPr lang="en-US" dirty="0"/>
              <a:t> </a:t>
            </a:r>
          </a:p>
          <a:p>
            <a:endParaRPr lang="en-US" dirty="0"/>
          </a:p>
        </p:txBody>
      </p:sp>
    </p:spTree>
    <p:extLst>
      <p:ext uri="{BB962C8B-B14F-4D97-AF65-F5344CB8AC3E}">
        <p14:creationId xmlns:p14="http://schemas.microsoft.com/office/powerpoint/2010/main" val="3879168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2573</TotalTime>
  <Words>3042</Words>
  <Application>Microsoft Office PowerPoint</Application>
  <PresentationFormat>Widescreen</PresentationFormat>
  <Paragraphs>276</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From Dough to Dollars</vt:lpstr>
      <vt:lpstr>Data Exploration &amp; Findings  </vt:lpstr>
      <vt:lpstr>The average order value</vt:lpstr>
      <vt:lpstr>The total pizzas sold</vt:lpstr>
      <vt:lpstr>unique orders  placed</vt:lpstr>
      <vt:lpstr>The average number of pizzas per order</vt:lpstr>
      <vt:lpstr>What the Data Revealed</vt:lpstr>
      <vt:lpstr>Sales Trends Over Time</vt:lpstr>
      <vt:lpstr>Month performed best by revenue</vt:lpstr>
      <vt:lpstr>Month performed  worst</vt:lpstr>
      <vt:lpstr>Day of the week generates the highest number of orders</vt:lpstr>
      <vt:lpstr>Day of the week that generates the lowest number of orders</vt:lpstr>
      <vt:lpstr>The hour of the day with the most orders placed</vt:lpstr>
      <vt:lpstr>Plot or describe the distribution across the day. </vt:lpstr>
      <vt:lpstr>Sales Trends Over Time Summary  </vt:lpstr>
      <vt:lpstr>Pizza Performance </vt:lpstr>
      <vt:lpstr>The bottom 5 worst-selling pizzas by quantity sold</vt:lpstr>
      <vt:lpstr>Pizza generates the most revenue</vt:lpstr>
      <vt:lpstr>Pizza generates the least revenue</vt:lpstr>
      <vt:lpstr>Best-sellers by quantity compared to the Best-sellers by revenue</vt:lpstr>
      <vt:lpstr>Pizza Performance </vt:lpstr>
      <vt:lpstr> Category &amp; Size Analysis Percentage of total sales by each pizza category</vt:lpstr>
      <vt:lpstr>The most popular pizza size by number of orders</vt:lpstr>
      <vt:lpstr>Pizza size by Revenue in comparison to quantity sold</vt:lpstr>
      <vt:lpstr>category with the highest average unit price</vt:lpstr>
      <vt:lpstr>Category &amp; Size Analysis Summary</vt:lpstr>
      <vt:lpstr>Ingredient Intelligence The top 10 most frequently used ingredients across all pizzas sold </vt:lpstr>
      <vt:lpstr>Ingredients that appear exclusively in low-selling pizzas</vt:lpstr>
      <vt:lpstr>Ingredients that appear exclusively in low-selling pizzas </vt:lpstr>
      <vt:lpstr>Ingredients Intelligence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Beatrice Wakonyo</dc:creator>
  <cp:lastModifiedBy>Beatrice Wakonyo</cp:lastModifiedBy>
  <cp:revision>2</cp:revision>
  <dcterms:created xsi:type="dcterms:W3CDTF">2026-02-26T20:22:07Z</dcterms:created>
  <dcterms:modified xsi:type="dcterms:W3CDTF">2026-02-28T15:15:13Z</dcterms:modified>
</cp:coreProperties>
</file>